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85" r:id="rId3"/>
    <p:sldId id="286" r:id="rId4"/>
    <p:sldId id="287" r:id="rId5"/>
    <p:sldId id="288" r:id="rId6"/>
    <p:sldId id="289" r:id="rId7"/>
    <p:sldId id="290" r:id="rId8"/>
    <p:sldId id="291" r:id="rId9"/>
    <p:sldId id="292" r:id="rId10"/>
    <p:sldId id="293" r:id="rId11"/>
    <p:sldId id="277" r:id="rId12"/>
    <p:sldId id="278" r:id="rId13"/>
    <p:sldId id="279" r:id="rId14"/>
    <p:sldId id="280" r:id="rId15"/>
    <p:sldId id="281" r:id="rId16"/>
    <p:sldId id="282" r:id="rId17"/>
    <p:sldId id="283" r:id="rId18"/>
    <p:sldId id="284" r:id="rId19"/>
  </p:sldIdLst>
  <p:sldSz cx="7199313" cy="9720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lday" initials="R" lastIdx="1" clrIdx="0">
    <p:extLst>
      <p:ext uri="{19B8F6BF-5375-455C-9EA6-DF929625EA0E}">
        <p15:presenceInfo xmlns:p15="http://schemas.microsoft.com/office/powerpoint/2012/main" userId="Rolda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AFC"/>
    <a:srgbClr val="89ED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125" d="100"/>
          <a:sy n="125" d="100"/>
        </p:scale>
        <p:origin x="99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39949" y="1590794"/>
            <a:ext cx="6119416" cy="3384092"/>
          </a:xfrm>
        </p:spPr>
        <p:txBody>
          <a:bodyPr anchor="b"/>
          <a:lstStyle>
            <a:lvl1pPr algn="ctr">
              <a:defRPr sz="4724"/>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99914" y="5105389"/>
            <a:ext cx="5399485" cy="2346813"/>
          </a:xfrm>
        </p:spPr>
        <p:txBody>
          <a:bodyPr/>
          <a:lstStyle>
            <a:lvl1pPr marL="0" indent="0" algn="ctr">
              <a:buNone/>
              <a:defRPr sz="1890"/>
            </a:lvl1pPr>
            <a:lvl2pPr marL="359954" indent="0" algn="ctr">
              <a:buNone/>
              <a:defRPr sz="1575"/>
            </a:lvl2pPr>
            <a:lvl3pPr marL="719907" indent="0" algn="ctr">
              <a:buNone/>
              <a:defRPr sz="1417"/>
            </a:lvl3pPr>
            <a:lvl4pPr marL="1079861" indent="0" algn="ctr">
              <a:buNone/>
              <a:defRPr sz="1260"/>
            </a:lvl4pPr>
            <a:lvl5pPr marL="1439814" indent="0" algn="ctr">
              <a:buNone/>
              <a:defRPr sz="1260"/>
            </a:lvl5pPr>
            <a:lvl6pPr marL="1799768" indent="0" algn="ctr">
              <a:buNone/>
              <a:defRPr sz="1260"/>
            </a:lvl6pPr>
            <a:lvl7pPr marL="2159721" indent="0" algn="ctr">
              <a:buNone/>
              <a:defRPr sz="1260"/>
            </a:lvl7pPr>
            <a:lvl8pPr marL="2519675" indent="0" algn="ctr">
              <a:buNone/>
              <a:defRPr sz="1260"/>
            </a:lvl8pPr>
            <a:lvl9pPr marL="2879628" indent="0" algn="ctr">
              <a:buNone/>
              <a:defRPr sz="126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D37F93-FC1C-4ABD-9DC3-957EBB9F8396}" type="datetimeFigureOut">
              <a:rPr lang="es-ES" smtClean="0"/>
              <a:t>17/06/2026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191120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D37F93-FC1C-4ABD-9DC3-957EBB9F8396}" type="datetimeFigureOut">
              <a:rPr lang="es-ES" smtClean="0"/>
              <a:t>17/06/2026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2528307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91204" y="2423318"/>
            <a:ext cx="6209407" cy="4043359"/>
          </a:xfrm>
        </p:spPr>
        <p:txBody>
          <a:bodyPr anchor="b"/>
          <a:lstStyle>
            <a:lvl1pPr>
              <a:defRPr sz="4724"/>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91204" y="6504929"/>
            <a:ext cx="6209407" cy="2126307"/>
          </a:xfrm>
        </p:spPr>
        <p:txBody>
          <a:bodyPr/>
          <a:lstStyle>
            <a:lvl1pPr marL="0" indent="0">
              <a:buNone/>
              <a:defRPr sz="1890">
                <a:solidFill>
                  <a:schemeClr val="tx1"/>
                </a:solidFill>
              </a:defRPr>
            </a:lvl1pPr>
            <a:lvl2pPr marL="359954" indent="0">
              <a:buNone/>
              <a:defRPr sz="1575">
                <a:solidFill>
                  <a:schemeClr val="tx1">
                    <a:tint val="75000"/>
                  </a:schemeClr>
                </a:solidFill>
              </a:defRPr>
            </a:lvl2pPr>
            <a:lvl3pPr marL="719907" indent="0">
              <a:buNone/>
              <a:defRPr sz="1417">
                <a:solidFill>
                  <a:schemeClr val="tx1">
                    <a:tint val="75000"/>
                  </a:schemeClr>
                </a:solidFill>
              </a:defRPr>
            </a:lvl3pPr>
            <a:lvl4pPr marL="1079861" indent="0">
              <a:buNone/>
              <a:defRPr sz="1260">
                <a:solidFill>
                  <a:schemeClr val="tx1">
                    <a:tint val="75000"/>
                  </a:schemeClr>
                </a:solidFill>
              </a:defRPr>
            </a:lvl4pPr>
            <a:lvl5pPr marL="1439814" indent="0">
              <a:buNone/>
              <a:defRPr sz="1260">
                <a:solidFill>
                  <a:schemeClr val="tx1">
                    <a:tint val="75000"/>
                  </a:schemeClr>
                </a:solidFill>
              </a:defRPr>
            </a:lvl5pPr>
            <a:lvl6pPr marL="1799768" indent="0">
              <a:buNone/>
              <a:defRPr sz="1260">
                <a:solidFill>
                  <a:schemeClr val="tx1">
                    <a:tint val="75000"/>
                  </a:schemeClr>
                </a:solidFill>
              </a:defRPr>
            </a:lvl6pPr>
            <a:lvl7pPr marL="2159721" indent="0">
              <a:buNone/>
              <a:defRPr sz="1260">
                <a:solidFill>
                  <a:schemeClr val="tx1">
                    <a:tint val="75000"/>
                  </a:schemeClr>
                </a:solidFill>
              </a:defRPr>
            </a:lvl7pPr>
            <a:lvl8pPr marL="2519675" indent="0">
              <a:buNone/>
              <a:defRPr sz="1260">
                <a:solidFill>
                  <a:schemeClr val="tx1">
                    <a:tint val="75000"/>
                  </a:schemeClr>
                </a:solidFill>
              </a:defRPr>
            </a:lvl8pPr>
            <a:lvl9pPr marL="2879628" indent="0">
              <a:buNone/>
              <a:defRPr sz="126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8D37F93-FC1C-4ABD-9DC3-957EBB9F8396}" type="datetimeFigureOut">
              <a:rPr lang="es-ES" smtClean="0"/>
              <a:t>17/06/2026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1779487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494953" y="2587570"/>
            <a:ext cx="3059708" cy="616741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644652" y="2587570"/>
            <a:ext cx="3059708" cy="616741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8D37F93-FC1C-4ABD-9DC3-957EBB9F8396}" type="datetimeFigureOut">
              <a:rPr lang="es-ES" smtClean="0"/>
              <a:t>17/06/2026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3187531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95891" y="517516"/>
            <a:ext cx="6209407" cy="187880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95891" y="2382815"/>
            <a:ext cx="3045646" cy="116778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es-ES"/>
              <a:t>Haga clic para modificar los estilos de texto del patrón</a:t>
            </a:r>
          </a:p>
        </p:txBody>
      </p:sp>
      <p:sp>
        <p:nvSpPr>
          <p:cNvPr id="4" name="Content Placeholder 3"/>
          <p:cNvSpPr>
            <a:spLocks noGrp="1"/>
          </p:cNvSpPr>
          <p:nvPr>
            <p:ph sz="half" idx="2"/>
          </p:nvPr>
        </p:nvSpPr>
        <p:spPr>
          <a:xfrm>
            <a:off x="495891" y="3550596"/>
            <a:ext cx="3045646" cy="522239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644652" y="2382815"/>
            <a:ext cx="3060646" cy="116778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es-ES"/>
              <a:t>Haga clic para modificar los estilos de texto del patrón</a:t>
            </a:r>
          </a:p>
        </p:txBody>
      </p:sp>
      <p:sp>
        <p:nvSpPr>
          <p:cNvPr id="6" name="Content Placeholder 5"/>
          <p:cNvSpPr>
            <a:spLocks noGrp="1"/>
          </p:cNvSpPr>
          <p:nvPr>
            <p:ph sz="quarter" idx="4"/>
          </p:nvPr>
        </p:nvSpPr>
        <p:spPr>
          <a:xfrm>
            <a:off x="3644652" y="3550596"/>
            <a:ext cx="3060646" cy="522239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8D37F93-FC1C-4ABD-9DC3-957EBB9F8396}" type="datetimeFigureOut">
              <a:rPr lang="es-ES" smtClean="0"/>
              <a:t>17/06/2026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3849599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8D37F93-FC1C-4ABD-9DC3-957EBB9F8396}" type="datetimeFigureOut">
              <a:rPr lang="es-ES" smtClean="0"/>
              <a:t>17/06/2026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1576955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D37F93-FC1C-4ABD-9DC3-957EBB9F8396}" type="datetimeFigureOut">
              <a:rPr lang="es-ES" smtClean="0"/>
              <a:t>17/06/2026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318930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95890" y="648018"/>
            <a:ext cx="2321966" cy="2268061"/>
          </a:xfrm>
        </p:spPr>
        <p:txBody>
          <a:bodyPr anchor="b"/>
          <a:lstStyle>
            <a:lvl1pPr>
              <a:defRPr sz="2519"/>
            </a:lvl1pPr>
          </a:lstStyle>
          <a:p>
            <a:r>
              <a:rPr lang="es-ES"/>
              <a:t>Haga clic para modificar el estilo de título del patrón</a:t>
            </a:r>
            <a:endParaRPr lang="en-US" dirty="0"/>
          </a:p>
        </p:txBody>
      </p:sp>
      <p:sp>
        <p:nvSpPr>
          <p:cNvPr id="3" name="Content Placeholder 2"/>
          <p:cNvSpPr>
            <a:spLocks noGrp="1"/>
          </p:cNvSpPr>
          <p:nvPr>
            <p:ph idx="1"/>
          </p:nvPr>
        </p:nvSpPr>
        <p:spPr>
          <a:xfrm>
            <a:off x="3060646" y="1399540"/>
            <a:ext cx="3644652" cy="6907687"/>
          </a:xfrm>
        </p:spPr>
        <p:txBody>
          <a:bodyPr/>
          <a:lstStyle>
            <a:lvl1pPr>
              <a:defRPr sz="2519"/>
            </a:lvl1pPr>
            <a:lvl2pPr>
              <a:defRPr sz="2204"/>
            </a:lvl2pPr>
            <a:lvl3pPr>
              <a:defRPr sz="1890"/>
            </a:lvl3pPr>
            <a:lvl4pPr>
              <a:defRPr sz="1575"/>
            </a:lvl4pPr>
            <a:lvl5pPr>
              <a:defRPr sz="1575"/>
            </a:lvl5pPr>
            <a:lvl6pPr>
              <a:defRPr sz="1575"/>
            </a:lvl6pPr>
            <a:lvl7pPr>
              <a:defRPr sz="1575"/>
            </a:lvl7pPr>
            <a:lvl8pPr>
              <a:defRPr sz="1575"/>
            </a:lvl8pPr>
            <a:lvl9pPr>
              <a:defRPr sz="1575"/>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95890" y="2916079"/>
            <a:ext cx="2321966" cy="5402397"/>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8D37F93-FC1C-4ABD-9DC3-957EBB9F8396}" type="datetimeFigureOut">
              <a:rPr lang="es-ES" smtClean="0"/>
              <a:t>17/06/2026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2006016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95890" y="648018"/>
            <a:ext cx="2321966" cy="2268061"/>
          </a:xfrm>
        </p:spPr>
        <p:txBody>
          <a:bodyPr anchor="b"/>
          <a:lstStyle>
            <a:lvl1pPr>
              <a:defRPr sz="251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060646" y="1399540"/>
            <a:ext cx="3644652" cy="6907687"/>
          </a:xfrm>
        </p:spPr>
        <p:txBody>
          <a:bodyPr anchor="t"/>
          <a:lstStyle>
            <a:lvl1pPr marL="0" indent="0">
              <a:buNone/>
              <a:defRPr sz="2519"/>
            </a:lvl1pPr>
            <a:lvl2pPr marL="359954" indent="0">
              <a:buNone/>
              <a:defRPr sz="2204"/>
            </a:lvl2pPr>
            <a:lvl3pPr marL="719907" indent="0">
              <a:buNone/>
              <a:defRPr sz="1890"/>
            </a:lvl3pPr>
            <a:lvl4pPr marL="1079861" indent="0">
              <a:buNone/>
              <a:defRPr sz="1575"/>
            </a:lvl4pPr>
            <a:lvl5pPr marL="1439814" indent="0">
              <a:buNone/>
              <a:defRPr sz="1575"/>
            </a:lvl5pPr>
            <a:lvl6pPr marL="1799768" indent="0">
              <a:buNone/>
              <a:defRPr sz="1575"/>
            </a:lvl6pPr>
            <a:lvl7pPr marL="2159721" indent="0">
              <a:buNone/>
              <a:defRPr sz="1575"/>
            </a:lvl7pPr>
            <a:lvl8pPr marL="2519675" indent="0">
              <a:buNone/>
              <a:defRPr sz="1575"/>
            </a:lvl8pPr>
            <a:lvl9pPr marL="2879628" indent="0">
              <a:buNone/>
              <a:defRPr sz="1575"/>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95890" y="2916079"/>
            <a:ext cx="2321966" cy="5402397"/>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8D37F93-FC1C-4ABD-9DC3-957EBB9F8396}" type="datetimeFigureOut">
              <a:rPr lang="es-ES" smtClean="0"/>
              <a:t>17/06/2026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2315381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D37F93-FC1C-4ABD-9DC3-957EBB9F8396}" type="datetimeFigureOut">
              <a:rPr lang="es-ES" smtClean="0"/>
              <a:t>17/06/2026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3192222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9" y="517514"/>
            <a:ext cx="1552352" cy="823747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94953" y="517514"/>
            <a:ext cx="4567064" cy="823747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D37F93-FC1C-4ABD-9DC3-957EBB9F8396}" type="datetimeFigureOut">
              <a:rPr lang="es-ES" smtClean="0"/>
              <a:t>17/06/2026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FC9EA78B-E179-4C38-8399-86EEC4B93989}" type="slidenum">
              <a:rPr lang="es-ES" smtClean="0"/>
              <a:t>‹Nº›</a:t>
            </a:fld>
            <a:endParaRPr lang="es-ES"/>
          </a:p>
        </p:txBody>
      </p:sp>
    </p:spTree>
    <p:extLst>
      <p:ext uri="{BB962C8B-B14F-4D97-AF65-F5344CB8AC3E}">
        <p14:creationId xmlns:p14="http://schemas.microsoft.com/office/powerpoint/2010/main" val="266242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3" y="517516"/>
            <a:ext cx="6209407" cy="1878802"/>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94953" y="2587570"/>
            <a:ext cx="6209407" cy="616741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494953" y="9009246"/>
            <a:ext cx="1619845" cy="517514"/>
          </a:xfrm>
          <a:prstGeom prst="rect">
            <a:avLst/>
          </a:prstGeom>
        </p:spPr>
        <p:txBody>
          <a:bodyPr vert="horz" lIns="91440" tIns="45720" rIns="91440" bIns="45720" rtlCol="0" anchor="ctr"/>
          <a:lstStyle>
            <a:lvl1pPr algn="l">
              <a:defRPr sz="945">
                <a:solidFill>
                  <a:schemeClr val="tx1">
                    <a:tint val="75000"/>
                  </a:schemeClr>
                </a:solidFill>
              </a:defRPr>
            </a:lvl1pPr>
          </a:lstStyle>
          <a:p>
            <a:fld id="{78D37F93-FC1C-4ABD-9DC3-957EBB9F8396}" type="datetimeFigureOut">
              <a:rPr lang="es-ES" smtClean="0"/>
              <a:t>17/06/2026</a:t>
            </a:fld>
            <a:endParaRPr lang="es-ES"/>
          </a:p>
        </p:txBody>
      </p:sp>
      <p:sp>
        <p:nvSpPr>
          <p:cNvPr id="5" name="Footer Placeholder 4"/>
          <p:cNvSpPr>
            <a:spLocks noGrp="1"/>
          </p:cNvSpPr>
          <p:nvPr>
            <p:ph type="ftr" sz="quarter" idx="3"/>
          </p:nvPr>
        </p:nvSpPr>
        <p:spPr>
          <a:xfrm>
            <a:off x="2384773" y="9009246"/>
            <a:ext cx="2429768" cy="517514"/>
          </a:xfrm>
          <a:prstGeom prst="rect">
            <a:avLst/>
          </a:prstGeom>
        </p:spPr>
        <p:txBody>
          <a:bodyPr vert="horz" lIns="91440" tIns="45720" rIns="91440" bIns="45720" rtlCol="0" anchor="ctr"/>
          <a:lstStyle>
            <a:lvl1pPr algn="ctr">
              <a:defRPr sz="945">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5084515" y="9009246"/>
            <a:ext cx="1619845" cy="517514"/>
          </a:xfrm>
          <a:prstGeom prst="rect">
            <a:avLst/>
          </a:prstGeom>
        </p:spPr>
        <p:txBody>
          <a:bodyPr vert="horz" lIns="91440" tIns="45720" rIns="91440" bIns="45720" rtlCol="0" anchor="ctr"/>
          <a:lstStyle>
            <a:lvl1pPr algn="r">
              <a:defRPr sz="945">
                <a:solidFill>
                  <a:schemeClr val="tx1">
                    <a:tint val="75000"/>
                  </a:schemeClr>
                </a:solidFill>
              </a:defRPr>
            </a:lvl1pPr>
          </a:lstStyle>
          <a:p>
            <a:fld id="{FC9EA78B-E179-4C38-8399-86EEC4B93989}" type="slidenum">
              <a:rPr lang="es-ES" smtClean="0"/>
              <a:t>‹Nº›</a:t>
            </a:fld>
            <a:endParaRPr lang="es-ES"/>
          </a:p>
        </p:txBody>
      </p:sp>
    </p:spTree>
    <p:extLst>
      <p:ext uri="{BB962C8B-B14F-4D97-AF65-F5344CB8AC3E}">
        <p14:creationId xmlns:p14="http://schemas.microsoft.com/office/powerpoint/2010/main" val="426646578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719907" rtl="0" eaLnBrk="1" latinLnBrk="0" hangingPunct="1">
        <a:lnSpc>
          <a:spcPct val="90000"/>
        </a:lnSpc>
        <a:spcBef>
          <a:spcPct val="0"/>
        </a:spcBef>
        <a:buNone/>
        <a:defRPr sz="3464" kern="1200">
          <a:solidFill>
            <a:schemeClr val="tx1"/>
          </a:solidFill>
          <a:latin typeface="+mj-lt"/>
          <a:ea typeface="+mj-ea"/>
          <a:cs typeface="+mj-cs"/>
        </a:defRPr>
      </a:lvl1pPr>
    </p:titleStyle>
    <p:bodyStyle>
      <a:lvl1pPr marL="179977" indent="-179977" algn="l" defTabSz="719907" rtl="0" eaLnBrk="1" latinLnBrk="0" hangingPunct="1">
        <a:lnSpc>
          <a:spcPct val="90000"/>
        </a:lnSpc>
        <a:spcBef>
          <a:spcPts val="787"/>
        </a:spcBef>
        <a:buFont typeface="Arial" panose="020B0604020202020204" pitchFamily="34" charset="0"/>
        <a:buChar char="•"/>
        <a:defRPr sz="2204" kern="1200">
          <a:solidFill>
            <a:schemeClr val="tx1"/>
          </a:solidFill>
          <a:latin typeface="+mn-lt"/>
          <a:ea typeface="+mn-ea"/>
          <a:cs typeface="+mn-cs"/>
        </a:defRPr>
      </a:lvl1pPr>
      <a:lvl2pPr marL="539930" indent="-179977" algn="l" defTabSz="719907"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899884" indent="-179977" algn="l" defTabSz="719907"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59837"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4pPr>
      <a:lvl5pPr marL="1619791"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5pPr>
      <a:lvl6pPr marL="197974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39698"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699652"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5960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19907" rtl="0" eaLnBrk="1" latinLnBrk="0" hangingPunct="1">
        <a:defRPr sz="1417" kern="1200">
          <a:solidFill>
            <a:schemeClr val="tx1"/>
          </a:solidFill>
          <a:latin typeface="+mn-lt"/>
          <a:ea typeface="+mn-ea"/>
          <a:cs typeface="+mn-cs"/>
        </a:defRPr>
      </a:lvl1pPr>
      <a:lvl2pPr marL="359954" algn="l" defTabSz="719907" rtl="0" eaLnBrk="1" latinLnBrk="0" hangingPunct="1">
        <a:defRPr sz="1417" kern="1200">
          <a:solidFill>
            <a:schemeClr val="tx1"/>
          </a:solidFill>
          <a:latin typeface="+mn-lt"/>
          <a:ea typeface="+mn-ea"/>
          <a:cs typeface="+mn-cs"/>
        </a:defRPr>
      </a:lvl2pPr>
      <a:lvl3pPr marL="719907" algn="l" defTabSz="719907" rtl="0" eaLnBrk="1" latinLnBrk="0" hangingPunct="1">
        <a:defRPr sz="1417" kern="1200">
          <a:solidFill>
            <a:schemeClr val="tx1"/>
          </a:solidFill>
          <a:latin typeface="+mn-lt"/>
          <a:ea typeface="+mn-ea"/>
          <a:cs typeface="+mn-cs"/>
        </a:defRPr>
      </a:lvl3pPr>
      <a:lvl4pPr marL="1079861" algn="l" defTabSz="719907" rtl="0" eaLnBrk="1" latinLnBrk="0" hangingPunct="1">
        <a:defRPr sz="1417" kern="1200">
          <a:solidFill>
            <a:schemeClr val="tx1"/>
          </a:solidFill>
          <a:latin typeface="+mn-lt"/>
          <a:ea typeface="+mn-ea"/>
          <a:cs typeface="+mn-cs"/>
        </a:defRPr>
      </a:lvl4pPr>
      <a:lvl5pPr marL="1439814" algn="l" defTabSz="719907" rtl="0" eaLnBrk="1" latinLnBrk="0" hangingPunct="1">
        <a:defRPr sz="1417" kern="1200">
          <a:solidFill>
            <a:schemeClr val="tx1"/>
          </a:solidFill>
          <a:latin typeface="+mn-lt"/>
          <a:ea typeface="+mn-ea"/>
          <a:cs typeface="+mn-cs"/>
        </a:defRPr>
      </a:lvl5pPr>
      <a:lvl6pPr marL="1799768" algn="l" defTabSz="719907" rtl="0" eaLnBrk="1" latinLnBrk="0" hangingPunct="1">
        <a:defRPr sz="1417" kern="1200">
          <a:solidFill>
            <a:schemeClr val="tx1"/>
          </a:solidFill>
          <a:latin typeface="+mn-lt"/>
          <a:ea typeface="+mn-ea"/>
          <a:cs typeface="+mn-cs"/>
        </a:defRPr>
      </a:lvl6pPr>
      <a:lvl7pPr marL="2159721" algn="l" defTabSz="719907" rtl="0" eaLnBrk="1" latinLnBrk="0" hangingPunct="1">
        <a:defRPr sz="1417" kern="1200">
          <a:solidFill>
            <a:schemeClr val="tx1"/>
          </a:solidFill>
          <a:latin typeface="+mn-lt"/>
          <a:ea typeface="+mn-ea"/>
          <a:cs typeface="+mn-cs"/>
        </a:defRPr>
      </a:lvl7pPr>
      <a:lvl8pPr marL="2519675" algn="l" defTabSz="719907" rtl="0" eaLnBrk="1" latinLnBrk="0" hangingPunct="1">
        <a:defRPr sz="1417" kern="1200">
          <a:solidFill>
            <a:schemeClr val="tx1"/>
          </a:solidFill>
          <a:latin typeface="+mn-lt"/>
          <a:ea typeface="+mn-ea"/>
          <a:cs typeface="+mn-cs"/>
        </a:defRPr>
      </a:lvl8pPr>
      <a:lvl9pPr marL="2879628" algn="l" defTabSz="719907"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8.pn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2.png"/><Relationship Id="rId7" Type="http://schemas.openxmlformats.org/officeDocument/2006/relationships/image" Target="../media/image32.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0.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4.pn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6.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6.png"/><Relationship Id="rId7" Type="http://schemas.openxmlformats.org/officeDocument/2006/relationships/image" Target="../media/image22.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1.png"/><Relationship Id="rId4" Type="http://schemas.openxmlformats.org/officeDocument/2006/relationships/image" Target="../media/image47.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0.jpg"/><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hyperlink" Target="https://universosur.ucf.edu.cu/" TargetMode="External"/><Relationship Id="rId4" Type="http://schemas.openxmlformats.org/officeDocument/2006/relationships/hyperlink" Target="https://docs.pkp.sfu.ca/learning-ojs/3.1/es/autho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4CE18CD-D658-400E-B133-9295AC21F801}"/>
              </a:ext>
            </a:extLst>
          </p:cNvPr>
          <p:cNvPicPr>
            <a:picLocks noChangeAspect="1"/>
          </p:cNvPicPr>
          <p:nvPr/>
        </p:nvPicPr>
        <p:blipFill>
          <a:blip r:embed="rId2"/>
          <a:stretch>
            <a:fillRect/>
          </a:stretch>
        </p:blipFill>
        <p:spPr>
          <a:xfrm>
            <a:off x="22860" y="22860"/>
            <a:ext cx="7145973" cy="1111936"/>
          </a:xfrm>
          <a:prstGeom prst="rect">
            <a:avLst/>
          </a:prstGeom>
        </p:spPr>
      </p:pic>
      <p:sp>
        <p:nvSpPr>
          <p:cNvPr id="27" name="CuadroTexto 26">
            <a:extLst>
              <a:ext uri="{FF2B5EF4-FFF2-40B4-BE49-F238E27FC236}">
                <a16:creationId xmlns:a16="http://schemas.microsoft.com/office/drawing/2014/main" id="{DBF43218-2725-464E-8E42-1023BB3F9AF1}"/>
              </a:ext>
            </a:extLst>
          </p:cNvPr>
          <p:cNvSpPr txBox="1"/>
          <p:nvPr/>
        </p:nvSpPr>
        <p:spPr>
          <a:xfrm>
            <a:off x="5999163" y="438835"/>
            <a:ext cx="1285557" cy="553998"/>
          </a:xfrm>
          <a:prstGeom prst="rect">
            <a:avLst/>
          </a:prstGeom>
          <a:noFill/>
        </p:spPr>
        <p:txBody>
          <a:bodyPr wrap="square">
            <a:spAutoFit/>
          </a:bodyPr>
          <a:lstStyle/>
          <a:p>
            <a:br>
              <a:rPr lang="es-ES" dirty="0"/>
            </a:br>
            <a:r>
              <a:rPr lang="es-ES" sz="1200" b="0" i="0" dirty="0">
                <a:solidFill>
                  <a:schemeClr val="bg1">
                    <a:lumMod val="75000"/>
                  </a:schemeClr>
                </a:solidFill>
                <a:effectLst/>
                <a:latin typeface="Inter"/>
              </a:rPr>
              <a:t>Versión 1.0 SDG</a:t>
            </a:r>
            <a:endParaRPr lang="es-ES" sz="1200" dirty="0">
              <a:solidFill>
                <a:schemeClr val="bg1">
                  <a:lumMod val="75000"/>
                </a:schemeClr>
              </a:solidFill>
            </a:endParaRPr>
          </a:p>
        </p:txBody>
      </p:sp>
      <p:pic>
        <p:nvPicPr>
          <p:cNvPr id="31" name="Imagen 30">
            <a:extLst>
              <a:ext uri="{FF2B5EF4-FFF2-40B4-BE49-F238E27FC236}">
                <a16:creationId xmlns:a16="http://schemas.microsoft.com/office/drawing/2014/main" id="{E9098076-9D00-492F-A5ED-B43C05F994F0}"/>
              </a:ext>
            </a:extLst>
          </p:cNvPr>
          <p:cNvPicPr>
            <a:picLocks noChangeAspect="1"/>
          </p:cNvPicPr>
          <p:nvPr/>
        </p:nvPicPr>
        <p:blipFill>
          <a:blip r:embed="rId3"/>
          <a:stretch>
            <a:fillRect/>
          </a:stretch>
        </p:blipFill>
        <p:spPr>
          <a:xfrm>
            <a:off x="829868" y="2531363"/>
            <a:ext cx="1552792" cy="523948"/>
          </a:xfrm>
          <a:prstGeom prst="rect">
            <a:avLst/>
          </a:prstGeom>
        </p:spPr>
      </p:pic>
      <p:pic>
        <p:nvPicPr>
          <p:cNvPr id="35" name="Imagen 34">
            <a:extLst>
              <a:ext uri="{FF2B5EF4-FFF2-40B4-BE49-F238E27FC236}">
                <a16:creationId xmlns:a16="http://schemas.microsoft.com/office/drawing/2014/main" id="{209DD8CD-ADC3-493A-BB6D-8DA0BF353A75}"/>
              </a:ext>
            </a:extLst>
          </p:cNvPr>
          <p:cNvPicPr>
            <a:picLocks noChangeAspect="1"/>
          </p:cNvPicPr>
          <p:nvPr/>
        </p:nvPicPr>
        <p:blipFill>
          <a:blip r:embed="rId4"/>
          <a:stretch>
            <a:fillRect/>
          </a:stretch>
        </p:blipFill>
        <p:spPr>
          <a:xfrm>
            <a:off x="835964" y="2996729"/>
            <a:ext cx="2715004" cy="533474"/>
          </a:xfrm>
          <a:prstGeom prst="rect">
            <a:avLst/>
          </a:prstGeom>
        </p:spPr>
      </p:pic>
      <p:pic>
        <p:nvPicPr>
          <p:cNvPr id="37" name="Imagen 36">
            <a:extLst>
              <a:ext uri="{FF2B5EF4-FFF2-40B4-BE49-F238E27FC236}">
                <a16:creationId xmlns:a16="http://schemas.microsoft.com/office/drawing/2014/main" id="{0EF9F116-0CF6-44DC-8017-49793C90D4F0}"/>
              </a:ext>
            </a:extLst>
          </p:cNvPr>
          <p:cNvPicPr>
            <a:picLocks noChangeAspect="1"/>
          </p:cNvPicPr>
          <p:nvPr/>
        </p:nvPicPr>
        <p:blipFill>
          <a:blip r:embed="rId5"/>
          <a:stretch>
            <a:fillRect/>
          </a:stretch>
        </p:blipFill>
        <p:spPr>
          <a:xfrm>
            <a:off x="835964" y="3513371"/>
            <a:ext cx="2353003" cy="495369"/>
          </a:xfrm>
          <a:prstGeom prst="rect">
            <a:avLst/>
          </a:prstGeom>
        </p:spPr>
      </p:pic>
      <p:pic>
        <p:nvPicPr>
          <p:cNvPr id="39" name="Imagen 38">
            <a:extLst>
              <a:ext uri="{FF2B5EF4-FFF2-40B4-BE49-F238E27FC236}">
                <a16:creationId xmlns:a16="http://schemas.microsoft.com/office/drawing/2014/main" id="{70F2EB23-8C37-4A78-BF1D-2065771D287C}"/>
              </a:ext>
            </a:extLst>
          </p:cNvPr>
          <p:cNvPicPr>
            <a:picLocks noChangeAspect="1"/>
          </p:cNvPicPr>
          <p:nvPr/>
        </p:nvPicPr>
        <p:blipFill>
          <a:blip r:embed="rId6"/>
          <a:stretch>
            <a:fillRect/>
          </a:stretch>
        </p:blipFill>
        <p:spPr>
          <a:xfrm>
            <a:off x="835964" y="4010641"/>
            <a:ext cx="1905266" cy="485843"/>
          </a:xfrm>
          <a:prstGeom prst="rect">
            <a:avLst/>
          </a:prstGeom>
        </p:spPr>
      </p:pic>
      <p:pic>
        <p:nvPicPr>
          <p:cNvPr id="41" name="Imagen 40">
            <a:extLst>
              <a:ext uri="{FF2B5EF4-FFF2-40B4-BE49-F238E27FC236}">
                <a16:creationId xmlns:a16="http://schemas.microsoft.com/office/drawing/2014/main" id="{F57B76DE-23D0-4C22-9367-9E3ACC9AE1B8}"/>
              </a:ext>
            </a:extLst>
          </p:cNvPr>
          <p:cNvPicPr>
            <a:picLocks noChangeAspect="1"/>
          </p:cNvPicPr>
          <p:nvPr/>
        </p:nvPicPr>
        <p:blipFill>
          <a:blip r:embed="rId7"/>
          <a:stretch>
            <a:fillRect/>
          </a:stretch>
        </p:blipFill>
        <p:spPr>
          <a:xfrm>
            <a:off x="835964" y="4478211"/>
            <a:ext cx="1057423" cy="504895"/>
          </a:xfrm>
          <a:prstGeom prst="rect">
            <a:avLst/>
          </a:prstGeom>
        </p:spPr>
      </p:pic>
      <p:pic>
        <p:nvPicPr>
          <p:cNvPr id="43" name="Imagen 42">
            <a:extLst>
              <a:ext uri="{FF2B5EF4-FFF2-40B4-BE49-F238E27FC236}">
                <a16:creationId xmlns:a16="http://schemas.microsoft.com/office/drawing/2014/main" id="{3E3F420E-8650-4340-915A-5548C7B1BF13}"/>
              </a:ext>
            </a:extLst>
          </p:cNvPr>
          <p:cNvPicPr>
            <a:picLocks noChangeAspect="1"/>
          </p:cNvPicPr>
          <p:nvPr/>
        </p:nvPicPr>
        <p:blipFill>
          <a:blip r:embed="rId8"/>
          <a:stretch>
            <a:fillRect/>
          </a:stretch>
        </p:blipFill>
        <p:spPr>
          <a:xfrm>
            <a:off x="822374" y="4994885"/>
            <a:ext cx="1152686" cy="485843"/>
          </a:xfrm>
          <a:prstGeom prst="rect">
            <a:avLst/>
          </a:prstGeom>
        </p:spPr>
      </p:pic>
      <p:pic>
        <p:nvPicPr>
          <p:cNvPr id="45" name="Imagen 44">
            <a:extLst>
              <a:ext uri="{FF2B5EF4-FFF2-40B4-BE49-F238E27FC236}">
                <a16:creationId xmlns:a16="http://schemas.microsoft.com/office/drawing/2014/main" id="{3B300397-2D49-44D8-9355-0385D7D8A579}"/>
              </a:ext>
            </a:extLst>
          </p:cNvPr>
          <p:cNvPicPr>
            <a:picLocks noChangeAspect="1"/>
          </p:cNvPicPr>
          <p:nvPr/>
        </p:nvPicPr>
        <p:blipFill>
          <a:blip r:embed="rId9"/>
          <a:stretch>
            <a:fillRect/>
          </a:stretch>
        </p:blipFill>
        <p:spPr>
          <a:xfrm>
            <a:off x="3843696" y="2540889"/>
            <a:ext cx="2419688" cy="514422"/>
          </a:xfrm>
          <a:prstGeom prst="rect">
            <a:avLst/>
          </a:prstGeom>
        </p:spPr>
      </p:pic>
      <p:pic>
        <p:nvPicPr>
          <p:cNvPr id="47" name="Imagen 46">
            <a:extLst>
              <a:ext uri="{FF2B5EF4-FFF2-40B4-BE49-F238E27FC236}">
                <a16:creationId xmlns:a16="http://schemas.microsoft.com/office/drawing/2014/main" id="{44645C23-B6F7-48F5-9093-CE9FBA4D4165}"/>
              </a:ext>
            </a:extLst>
          </p:cNvPr>
          <p:cNvPicPr>
            <a:picLocks noChangeAspect="1"/>
          </p:cNvPicPr>
          <p:nvPr/>
        </p:nvPicPr>
        <p:blipFill>
          <a:blip r:embed="rId10"/>
          <a:stretch>
            <a:fillRect/>
          </a:stretch>
        </p:blipFill>
        <p:spPr>
          <a:xfrm>
            <a:off x="3900646" y="3015017"/>
            <a:ext cx="1838582" cy="485843"/>
          </a:xfrm>
          <a:prstGeom prst="rect">
            <a:avLst/>
          </a:prstGeom>
        </p:spPr>
      </p:pic>
      <p:pic>
        <p:nvPicPr>
          <p:cNvPr id="49" name="Imagen 48">
            <a:extLst>
              <a:ext uri="{FF2B5EF4-FFF2-40B4-BE49-F238E27FC236}">
                <a16:creationId xmlns:a16="http://schemas.microsoft.com/office/drawing/2014/main" id="{C4710A99-557A-4F55-AB26-36081C3994B2}"/>
              </a:ext>
            </a:extLst>
          </p:cNvPr>
          <p:cNvPicPr>
            <a:picLocks noChangeAspect="1"/>
          </p:cNvPicPr>
          <p:nvPr/>
        </p:nvPicPr>
        <p:blipFill>
          <a:blip r:embed="rId11"/>
          <a:stretch>
            <a:fillRect/>
          </a:stretch>
        </p:blipFill>
        <p:spPr>
          <a:xfrm>
            <a:off x="3918934" y="3491988"/>
            <a:ext cx="2534004" cy="523948"/>
          </a:xfrm>
          <a:prstGeom prst="rect">
            <a:avLst/>
          </a:prstGeom>
        </p:spPr>
      </p:pic>
      <p:pic>
        <p:nvPicPr>
          <p:cNvPr id="51" name="Imagen 50">
            <a:extLst>
              <a:ext uri="{FF2B5EF4-FFF2-40B4-BE49-F238E27FC236}">
                <a16:creationId xmlns:a16="http://schemas.microsoft.com/office/drawing/2014/main" id="{BA3A0F1C-4F46-4AE5-90A8-04442053E8E3}"/>
              </a:ext>
            </a:extLst>
          </p:cNvPr>
          <p:cNvPicPr>
            <a:picLocks noChangeAspect="1"/>
          </p:cNvPicPr>
          <p:nvPr/>
        </p:nvPicPr>
        <p:blipFill>
          <a:blip r:embed="rId12"/>
          <a:stretch>
            <a:fillRect/>
          </a:stretch>
        </p:blipFill>
        <p:spPr>
          <a:xfrm>
            <a:off x="3943318" y="3974113"/>
            <a:ext cx="2391109" cy="514422"/>
          </a:xfrm>
          <a:prstGeom prst="rect">
            <a:avLst/>
          </a:prstGeom>
        </p:spPr>
      </p:pic>
      <p:pic>
        <p:nvPicPr>
          <p:cNvPr id="53" name="Imagen 52">
            <a:extLst>
              <a:ext uri="{FF2B5EF4-FFF2-40B4-BE49-F238E27FC236}">
                <a16:creationId xmlns:a16="http://schemas.microsoft.com/office/drawing/2014/main" id="{780FB73C-16F5-40EE-8134-50500F69F5C1}"/>
              </a:ext>
            </a:extLst>
          </p:cNvPr>
          <p:cNvPicPr>
            <a:picLocks noChangeAspect="1"/>
          </p:cNvPicPr>
          <p:nvPr/>
        </p:nvPicPr>
        <p:blipFill>
          <a:blip r:embed="rId13"/>
          <a:stretch>
            <a:fillRect/>
          </a:stretch>
        </p:blipFill>
        <p:spPr>
          <a:xfrm>
            <a:off x="3925030" y="4470901"/>
            <a:ext cx="2248214" cy="495369"/>
          </a:xfrm>
          <a:prstGeom prst="rect">
            <a:avLst/>
          </a:prstGeom>
        </p:spPr>
      </p:pic>
      <p:pic>
        <p:nvPicPr>
          <p:cNvPr id="55" name="Imagen 54">
            <a:extLst>
              <a:ext uri="{FF2B5EF4-FFF2-40B4-BE49-F238E27FC236}">
                <a16:creationId xmlns:a16="http://schemas.microsoft.com/office/drawing/2014/main" id="{7E4152D4-57C9-4F3B-ACBE-7AF024D5D843}"/>
              </a:ext>
            </a:extLst>
          </p:cNvPr>
          <p:cNvPicPr>
            <a:picLocks noChangeAspect="1"/>
          </p:cNvPicPr>
          <p:nvPr/>
        </p:nvPicPr>
        <p:blipFill>
          <a:blip r:embed="rId14"/>
          <a:stretch>
            <a:fillRect/>
          </a:stretch>
        </p:blipFill>
        <p:spPr>
          <a:xfrm>
            <a:off x="3943318" y="4943500"/>
            <a:ext cx="2000529" cy="504895"/>
          </a:xfrm>
          <a:prstGeom prst="rect">
            <a:avLst/>
          </a:prstGeom>
        </p:spPr>
      </p:pic>
      <p:pic>
        <p:nvPicPr>
          <p:cNvPr id="57" name="Imagen 56">
            <a:extLst>
              <a:ext uri="{FF2B5EF4-FFF2-40B4-BE49-F238E27FC236}">
                <a16:creationId xmlns:a16="http://schemas.microsoft.com/office/drawing/2014/main" id="{7C811304-9CA1-4B57-8239-ED44594CCE34}"/>
              </a:ext>
            </a:extLst>
          </p:cNvPr>
          <p:cNvPicPr>
            <a:picLocks noChangeAspect="1"/>
          </p:cNvPicPr>
          <p:nvPr/>
        </p:nvPicPr>
        <p:blipFill>
          <a:blip r:embed="rId15"/>
          <a:stretch>
            <a:fillRect/>
          </a:stretch>
        </p:blipFill>
        <p:spPr>
          <a:xfrm>
            <a:off x="3918934" y="5434775"/>
            <a:ext cx="2457793" cy="485843"/>
          </a:xfrm>
          <a:prstGeom prst="rect">
            <a:avLst/>
          </a:prstGeom>
        </p:spPr>
      </p:pic>
      <p:cxnSp>
        <p:nvCxnSpPr>
          <p:cNvPr id="60" name="Conector recto 59">
            <a:extLst>
              <a:ext uri="{FF2B5EF4-FFF2-40B4-BE49-F238E27FC236}">
                <a16:creationId xmlns:a16="http://schemas.microsoft.com/office/drawing/2014/main" id="{8CD7F563-69D5-4D2B-9E7C-579F402ADFB5}"/>
              </a:ext>
            </a:extLst>
          </p:cNvPr>
          <p:cNvCxnSpPr>
            <a:cxnSpLocks/>
          </p:cNvCxnSpPr>
          <p:nvPr/>
        </p:nvCxnSpPr>
        <p:spPr>
          <a:xfrm>
            <a:off x="316992" y="6261512"/>
            <a:ext cx="6492240"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pic>
        <p:nvPicPr>
          <p:cNvPr id="66" name="Imagen 65">
            <a:extLst>
              <a:ext uri="{FF2B5EF4-FFF2-40B4-BE49-F238E27FC236}">
                <a16:creationId xmlns:a16="http://schemas.microsoft.com/office/drawing/2014/main" id="{948EFF59-D20C-4698-9E77-EB38165D0736}"/>
              </a:ext>
            </a:extLst>
          </p:cNvPr>
          <p:cNvPicPr>
            <a:picLocks noChangeAspect="1"/>
          </p:cNvPicPr>
          <p:nvPr/>
        </p:nvPicPr>
        <p:blipFill>
          <a:blip r:embed="rId16"/>
          <a:stretch>
            <a:fillRect/>
          </a:stretch>
        </p:blipFill>
        <p:spPr>
          <a:xfrm>
            <a:off x="2630737" y="1931245"/>
            <a:ext cx="1657581" cy="323895"/>
          </a:xfrm>
          <a:prstGeom prst="rect">
            <a:avLst/>
          </a:prstGeom>
        </p:spPr>
      </p:pic>
    </p:spTree>
    <p:extLst>
      <p:ext uri="{BB962C8B-B14F-4D97-AF65-F5344CB8AC3E}">
        <p14:creationId xmlns:p14="http://schemas.microsoft.com/office/powerpoint/2010/main" val="3751193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F54F4AC-9F92-43B3-B499-7AC2EF5AA988}"/>
              </a:ext>
            </a:extLst>
          </p:cNvPr>
          <p:cNvPicPr>
            <a:picLocks noChangeAspect="1"/>
          </p:cNvPicPr>
          <p:nvPr/>
        </p:nvPicPr>
        <p:blipFill>
          <a:blip r:embed="rId2"/>
          <a:stretch>
            <a:fillRect/>
          </a:stretch>
        </p:blipFill>
        <p:spPr>
          <a:xfrm>
            <a:off x="633984" y="2067552"/>
            <a:ext cx="5815520" cy="2845190"/>
          </a:xfrm>
          <a:prstGeom prst="rect">
            <a:avLst/>
          </a:prstGeom>
        </p:spPr>
      </p:pic>
      <p:pic>
        <p:nvPicPr>
          <p:cNvPr id="22" name="Imagen 21">
            <a:extLst>
              <a:ext uri="{FF2B5EF4-FFF2-40B4-BE49-F238E27FC236}">
                <a16:creationId xmlns:a16="http://schemas.microsoft.com/office/drawing/2014/main" id="{9FA2EB0D-A648-47A6-A00C-278C88C86C9E}"/>
              </a:ext>
            </a:extLst>
          </p:cNvPr>
          <p:cNvPicPr>
            <a:picLocks noChangeAspect="1"/>
          </p:cNvPicPr>
          <p:nvPr/>
        </p:nvPicPr>
        <p:blipFill>
          <a:blip r:embed="rId3"/>
          <a:stretch>
            <a:fillRect/>
          </a:stretch>
        </p:blipFill>
        <p:spPr>
          <a:xfrm>
            <a:off x="256031" y="249936"/>
            <a:ext cx="6742177" cy="1695673"/>
          </a:xfrm>
          <a:prstGeom prst="rect">
            <a:avLst/>
          </a:prstGeom>
        </p:spPr>
      </p:pic>
      <p:pic>
        <p:nvPicPr>
          <p:cNvPr id="8" name="Imagen 7">
            <a:extLst>
              <a:ext uri="{FF2B5EF4-FFF2-40B4-BE49-F238E27FC236}">
                <a16:creationId xmlns:a16="http://schemas.microsoft.com/office/drawing/2014/main" id="{4E96D241-1E04-4541-A8B8-DA6A9FB1116D}"/>
              </a:ext>
            </a:extLst>
          </p:cNvPr>
          <p:cNvPicPr>
            <a:picLocks noChangeAspect="1"/>
          </p:cNvPicPr>
          <p:nvPr/>
        </p:nvPicPr>
        <p:blipFill>
          <a:blip r:embed="rId4"/>
          <a:stretch>
            <a:fillRect/>
          </a:stretch>
        </p:blipFill>
        <p:spPr>
          <a:xfrm>
            <a:off x="256031" y="5266269"/>
            <a:ext cx="6742178" cy="1695674"/>
          </a:xfrm>
          <a:prstGeom prst="rect">
            <a:avLst/>
          </a:prstGeom>
        </p:spPr>
      </p:pic>
      <p:cxnSp>
        <p:nvCxnSpPr>
          <p:cNvPr id="28" name="Conector recto 27">
            <a:extLst>
              <a:ext uri="{FF2B5EF4-FFF2-40B4-BE49-F238E27FC236}">
                <a16:creationId xmlns:a16="http://schemas.microsoft.com/office/drawing/2014/main" id="{24D6C797-A950-45AC-9D22-18DA1EA07A8E}"/>
              </a:ext>
            </a:extLst>
          </p:cNvPr>
          <p:cNvCxnSpPr>
            <a:cxnSpLocks/>
          </p:cNvCxnSpPr>
          <p:nvPr/>
        </p:nvCxnSpPr>
        <p:spPr>
          <a:xfrm>
            <a:off x="304800" y="5127656"/>
            <a:ext cx="6492240"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pic>
        <p:nvPicPr>
          <p:cNvPr id="12" name="Imagen 11">
            <a:extLst>
              <a:ext uri="{FF2B5EF4-FFF2-40B4-BE49-F238E27FC236}">
                <a16:creationId xmlns:a16="http://schemas.microsoft.com/office/drawing/2014/main" id="{ABA41A7A-D602-4C5C-A689-58DF8144DE05}"/>
              </a:ext>
            </a:extLst>
          </p:cNvPr>
          <p:cNvPicPr>
            <a:picLocks noChangeAspect="1"/>
          </p:cNvPicPr>
          <p:nvPr/>
        </p:nvPicPr>
        <p:blipFill>
          <a:blip r:embed="rId5"/>
          <a:stretch>
            <a:fillRect/>
          </a:stretch>
        </p:blipFill>
        <p:spPr>
          <a:xfrm>
            <a:off x="640080" y="7301723"/>
            <a:ext cx="1622719" cy="1148768"/>
          </a:xfrm>
          <a:prstGeom prst="rect">
            <a:avLst/>
          </a:prstGeom>
        </p:spPr>
      </p:pic>
      <p:pic>
        <p:nvPicPr>
          <p:cNvPr id="32" name="Imagen 31">
            <a:extLst>
              <a:ext uri="{FF2B5EF4-FFF2-40B4-BE49-F238E27FC236}">
                <a16:creationId xmlns:a16="http://schemas.microsoft.com/office/drawing/2014/main" id="{78C4045F-ADA4-4686-8857-4D13F493F6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226722">
            <a:off x="728471" y="7731526"/>
            <a:ext cx="244706" cy="244706"/>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14" name="Imagen 13">
            <a:extLst>
              <a:ext uri="{FF2B5EF4-FFF2-40B4-BE49-F238E27FC236}">
                <a16:creationId xmlns:a16="http://schemas.microsoft.com/office/drawing/2014/main" id="{E59C1B76-AA00-44EA-A797-13BD4CBE7397}"/>
              </a:ext>
            </a:extLst>
          </p:cNvPr>
          <p:cNvPicPr>
            <a:picLocks noChangeAspect="1"/>
          </p:cNvPicPr>
          <p:nvPr/>
        </p:nvPicPr>
        <p:blipFill>
          <a:blip r:embed="rId7"/>
          <a:stretch>
            <a:fillRect/>
          </a:stretch>
        </p:blipFill>
        <p:spPr>
          <a:xfrm>
            <a:off x="2768767" y="7301724"/>
            <a:ext cx="1640136" cy="1148768"/>
          </a:xfrm>
          <a:prstGeom prst="rect">
            <a:avLst/>
          </a:prstGeom>
        </p:spPr>
      </p:pic>
      <p:pic>
        <p:nvPicPr>
          <p:cNvPr id="36" name="Imagen 35">
            <a:extLst>
              <a:ext uri="{FF2B5EF4-FFF2-40B4-BE49-F238E27FC236}">
                <a16:creationId xmlns:a16="http://schemas.microsoft.com/office/drawing/2014/main" id="{B919CD8D-FE2F-4A4F-9D4C-2E0C7C87AB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226722">
            <a:off x="3655970" y="7753753"/>
            <a:ext cx="244706" cy="244706"/>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40" name="Imagen 39">
            <a:extLst>
              <a:ext uri="{FF2B5EF4-FFF2-40B4-BE49-F238E27FC236}">
                <a16:creationId xmlns:a16="http://schemas.microsoft.com/office/drawing/2014/main" id="{F3614D5F-7E0C-4220-BA67-CA9856EFE1E9}"/>
              </a:ext>
            </a:extLst>
          </p:cNvPr>
          <p:cNvPicPr>
            <a:picLocks noChangeAspect="1"/>
          </p:cNvPicPr>
          <p:nvPr/>
        </p:nvPicPr>
        <p:blipFill>
          <a:blip r:embed="rId7"/>
          <a:stretch>
            <a:fillRect/>
          </a:stretch>
        </p:blipFill>
        <p:spPr>
          <a:xfrm>
            <a:off x="4892342" y="7301723"/>
            <a:ext cx="1640136" cy="1148768"/>
          </a:xfrm>
          <a:prstGeom prst="rect">
            <a:avLst/>
          </a:prstGeom>
        </p:spPr>
      </p:pic>
      <p:pic>
        <p:nvPicPr>
          <p:cNvPr id="42" name="Imagen 41">
            <a:extLst>
              <a:ext uri="{FF2B5EF4-FFF2-40B4-BE49-F238E27FC236}">
                <a16:creationId xmlns:a16="http://schemas.microsoft.com/office/drawing/2014/main" id="{820CDF0A-2E11-425A-9584-03BE1EED83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5003197">
            <a:off x="4949765" y="8167698"/>
            <a:ext cx="244706" cy="244706"/>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44" name="Imagen 43">
            <a:extLst>
              <a:ext uri="{FF2B5EF4-FFF2-40B4-BE49-F238E27FC236}">
                <a16:creationId xmlns:a16="http://schemas.microsoft.com/office/drawing/2014/main" id="{17E89347-1DC0-45EC-9318-0572CA2FB7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8149" y="7271550"/>
            <a:ext cx="200422" cy="200422"/>
          </a:xfrm>
          <a:prstGeom prst="rect">
            <a:avLst/>
          </a:prstGeom>
          <a:effectLst>
            <a:outerShdw blurRad="50800" dist="38100" dir="2700000" algn="tl" rotWithShape="0">
              <a:prstClr val="black">
                <a:alpha val="40000"/>
              </a:prstClr>
            </a:outerShdw>
          </a:effectLst>
        </p:spPr>
      </p:pic>
      <p:pic>
        <p:nvPicPr>
          <p:cNvPr id="46" name="Imagen 45">
            <a:extLst>
              <a:ext uri="{FF2B5EF4-FFF2-40B4-BE49-F238E27FC236}">
                <a16:creationId xmlns:a16="http://schemas.microsoft.com/office/drawing/2014/main" id="{A92BAA77-73BE-48A4-9965-D8BFBB65C85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88067" y="7274583"/>
            <a:ext cx="197389" cy="197389"/>
          </a:xfrm>
          <a:prstGeom prst="rect">
            <a:avLst/>
          </a:prstGeom>
          <a:effectLst>
            <a:outerShdw blurRad="50800" dist="38100" dir="2700000" algn="tl" rotWithShape="0">
              <a:prstClr val="black">
                <a:alpha val="40000"/>
              </a:prstClr>
            </a:outerShdw>
          </a:effectLst>
        </p:spPr>
      </p:pic>
      <p:pic>
        <p:nvPicPr>
          <p:cNvPr id="48" name="Imagen 47">
            <a:extLst>
              <a:ext uri="{FF2B5EF4-FFF2-40B4-BE49-F238E27FC236}">
                <a16:creationId xmlns:a16="http://schemas.microsoft.com/office/drawing/2014/main" id="{B13B02A0-32F0-493D-A736-69FAC055EB3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14448" y="7271549"/>
            <a:ext cx="200423" cy="20042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68992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176AC4E-E74D-4BFF-9680-C70BAD35D492}"/>
              </a:ext>
            </a:extLst>
          </p:cNvPr>
          <p:cNvPicPr>
            <a:picLocks noChangeAspect="1"/>
          </p:cNvPicPr>
          <p:nvPr/>
        </p:nvPicPr>
        <p:blipFill>
          <a:blip r:embed="rId2"/>
          <a:stretch>
            <a:fillRect/>
          </a:stretch>
        </p:blipFill>
        <p:spPr>
          <a:xfrm>
            <a:off x="1075944" y="184987"/>
            <a:ext cx="5105400" cy="2978837"/>
          </a:xfrm>
          <a:prstGeom prst="rect">
            <a:avLst/>
          </a:prstGeom>
        </p:spPr>
      </p:pic>
      <p:pic>
        <p:nvPicPr>
          <p:cNvPr id="4" name="Imagen 3">
            <a:extLst>
              <a:ext uri="{FF2B5EF4-FFF2-40B4-BE49-F238E27FC236}">
                <a16:creationId xmlns:a16="http://schemas.microsoft.com/office/drawing/2014/main" id="{8F61E45E-B4C4-4861-94E3-969A5192EC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522" y="184987"/>
            <a:ext cx="200422" cy="200422"/>
          </a:xfrm>
          <a:prstGeom prst="rect">
            <a:avLst/>
          </a:prstGeom>
          <a:effectLst>
            <a:outerShdw blurRad="50800" dist="38100" dir="2700000" algn="tl" rotWithShape="0">
              <a:prstClr val="black">
                <a:alpha val="40000"/>
              </a:prstClr>
            </a:outerShdw>
          </a:effectLst>
        </p:spPr>
      </p:pic>
      <p:cxnSp>
        <p:nvCxnSpPr>
          <p:cNvPr id="5" name="Conector recto 4">
            <a:extLst>
              <a:ext uri="{FF2B5EF4-FFF2-40B4-BE49-F238E27FC236}">
                <a16:creationId xmlns:a16="http://schemas.microsoft.com/office/drawing/2014/main" id="{7CDB01C4-81FC-40D4-9562-695DFD6830D2}"/>
              </a:ext>
            </a:extLst>
          </p:cNvPr>
          <p:cNvCxnSpPr>
            <a:cxnSpLocks/>
          </p:cNvCxnSpPr>
          <p:nvPr/>
        </p:nvCxnSpPr>
        <p:spPr>
          <a:xfrm>
            <a:off x="353536" y="4432712"/>
            <a:ext cx="6492240"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pic>
        <p:nvPicPr>
          <p:cNvPr id="7" name="Imagen 6">
            <a:extLst>
              <a:ext uri="{FF2B5EF4-FFF2-40B4-BE49-F238E27FC236}">
                <a16:creationId xmlns:a16="http://schemas.microsoft.com/office/drawing/2014/main" id="{04EE8829-E52B-4FA9-A2EC-F81348E44DD5}"/>
              </a:ext>
            </a:extLst>
          </p:cNvPr>
          <p:cNvPicPr>
            <a:picLocks noChangeAspect="1"/>
          </p:cNvPicPr>
          <p:nvPr/>
        </p:nvPicPr>
        <p:blipFill>
          <a:blip r:embed="rId4"/>
          <a:stretch>
            <a:fillRect/>
          </a:stretch>
        </p:blipFill>
        <p:spPr>
          <a:xfrm>
            <a:off x="231649" y="4600204"/>
            <a:ext cx="6742176" cy="1519598"/>
          </a:xfrm>
          <a:prstGeom prst="rect">
            <a:avLst/>
          </a:prstGeom>
        </p:spPr>
      </p:pic>
      <p:pic>
        <p:nvPicPr>
          <p:cNvPr id="15" name="Imagen 14">
            <a:extLst>
              <a:ext uri="{FF2B5EF4-FFF2-40B4-BE49-F238E27FC236}">
                <a16:creationId xmlns:a16="http://schemas.microsoft.com/office/drawing/2014/main" id="{2C8C2934-3AB3-4BFC-BF8C-1EDC265279D7}"/>
              </a:ext>
            </a:extLst>
          </p:cNvPr>
          <p:cNvPicPr>
            <a:picLocks noChangeAspect="1"/>
          </p:cNvPicPr>
          <p:nvPr/>
        </p:nvPicPr>
        <p:blipFill>
          <a:blip r:embed="rId5"/>
          <a:stretch>
            <a:fillRect/>
          </a:stretch>
        </p:blipFill>
        <p:spPr>
          <a:xfrm>
            <a:off x="570408" y="6436463"/>
            <a:ext cx="1505925" cy="450141"/>
          </a:xfrm>
          <a:prstGeom prst="rect">
            <a:avLst/>
          </a:prstGeom>
        </p:spPr>
      </p:pic>
      <p:pic>
        <p:nvPicPr>
          <p:cNvPr id="13" name="Imagen 12">
            <a:extLst>
              <a:ext uri="{FF2B5EF4-FFF2-40B4-BE49-F238E27FC236}">
                <a16:creationId xmlns:a16="http://schemas.microsoft.com/office/drawing/2014/main" id="{FCB5C560-8724-4735-934A-14709C9E5D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226722">
            <a:off x="448055" y="6314110"/>
            <a:ext cx="244706" cy="244706"/>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19" name="Imagen 18">
            <a:extLst>
              <a:ext uri="{FF2B5EF4-FFF2-40B4-BE49-F238E27FC236}">
                <a16:creationId xmlns:a16="http://schemas.microsoft.com/office/drawing/2014/main" id="{EE6DC81C-5A46-45B5-8756-5DDF225EF928}"/>
              </a:ext>
            </a:extLst>
          </p:cNvPr>
          <p:cNvPicPr>
            <a:picLocks noChangeAspect="1"/>
          </p:cNvPicPr>
          <p:nvPr/>
        </p:nvPicPr>
        <p:blipFill>
          <a:blip r:embed="rId7"/>
          <a:stretch>
            <a:fillRect/>
          </a:stretch>
        </p:blipFill>
        <p:spPr>
          <a:xfrm>
            <a:off x="2359152" y="6222331"/>
            <a:ext cx="4622334" cy="3036828"/>
          </a:xfrm>
          <a:prstGeom prst="rect">
            <a:avLst/>
          </a:prstGeom>
        </p:spPr>
      </p:pic>
      <p:pic>
        <p:nvPicPr>
          <p:cNvPr id="20" name="Imagen 19">
            <a:extLst>
              <a:ext uri="{FF2B5EF4-FFF2-40B4-BE49-F238E27FC236}">
                <a16:creationId xmlns:a16="http://schemas.microsoft.com/office/drawing/2014/main" id="{E8949D69-30B6-4A95-A5C5-23AFC07A81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410199" y="8978361"/>
            <a:ext cx="244706" cy="244706"/>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3929971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7458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37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42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699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61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874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313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Imagen 71">
            <a:extLst>
              <a:ext uri="{FF2B5EF4-FFF2-40B4-BE49-F238E27FC236}">
                <a16:creationId xmlns:a16="http://schemas.microsoft.com/office/drawing/2014/main" id="{38CE75C3-D7B1-43E5-AC1B-5628227BC1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pic>
        <p:nvPicPr>
          <p:cNvPr id="38" name="Imagen 37">
            <a:extLst>
              <a:ext uri="{FF2B5EF4-FFF2-40B4-BE49-F238E27FC236}">
                <a16:creationId xmlns:a16="http://schemas.microsoft.com/office/drawing/2014/main" id="{61D9B89D-5AD7-455A-A671-446074F0D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109" y="561624"/>
            <a:ext cx="200422" cy="200422"/>
          </a:xfrm>
          <a:prstGeom prst="rect">
            <a:avLst/>
          </a:prstGeom>
          <a:effectLst>
            <a:outerShdw blurRad="50800" dist="38100" dir="2700000" algn="tl" rotWithShape="0">
              <a:prstClr val="black">
                <a:alpha val="40000"/>
              </a:prstClr>
            </a:outerShdw>
          </a:effectLst>
        </p:spPr>
      </p:pic>
      <p:grpSp>
        <p:nvGrpSpPr>
          <p:cNvPr id="39" name="Grupo 38">
            <a:extLst>
              <a:ext uri="{FF2B5EF4-FFF2-40B4-BE49-F238E27FC236}">
                <a16:creationId xmlns:a16="http://schemas.microsoft.com/office/drawing/2014/main" id="{DB655B4E-B693-484F-B051-3A2EF88C1818}"/>
              </a:ext>
            </a:extLst>
          </p:cNvPr>
          <p:cNvGrpSpPr/>
          <p:nvPr/>
        </p:nvGrpSpPr>
        <p:grpSpPr>
          <a:xfrm>
            <a:off x="1408208" y="690225"/>
            <a:ext cx="52355" cy="44425"/>
            <a:chOff x="6571128" y="2259106"/>
            <a:chExt cx="277906" cy="286869"/>
          </a:xfrm>
          <a:effectLst>
            <a:outerShdw blurRad="50800" dist="38100" dir="2700000" algn="tl" rotWithShape="0">
              <a:prstClr val="black">
                <a:alpha val="40000"/>
              </a:prstClr>
            </a:outerShdw>
          </a:effectLst>
        </p:grpSpPr>
        <p:sp>
          <p:nvSpPr>
            <p:cNvPr id="40" name="Diagrama de flujo: conector 39">
              <a:extLst>
                <a:ext uri="{FF2B5EF4-FFF2-40B4-BE49-F238E27FC236}">
                  <a16:creationId xmlns:a16="http://schemas.microsoft.com/office/drawing/2014/main" id="{9428BAF7-C214-4DF0-B4E9-C5F6945EF268}"/>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72735" rtl="0" eaLnBrk="1" fontAlgn="auto" latinLnBrk="0" hangingPunct="1">
                <a:lnSpc>
                  <a:spcPct val="100000"/>
                </a:lnSpc>
                <a:spcBef>
                  <a:spcPts val="0"/>
                </a:spcBef>
                <a:spcAft>
                  <a:spcPts val="0"/>
                </a:spcAft>
                <a:buClrTx/>
                <a:buSzTx/>
                <a:buFontTx/>
                <a:buNone/>
                <a:tabLst/>
                <a:defRPr/>
              </a:pPr>
              <a:endParaRPr kumimoji="0" lang="es-ES" sz="734"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Diagrama de flujo: conector 40">
              <a:extLst>
                <a:ext uri="{FF2B5EF4-FFF2-40B4-BE49-F238E27FC236}">
                  <a16:creationId xmlns:a16="http://schemas.microsoft.com/office/drawing/2014/main" id="{9399FC68-7359-4DC7-9701-B8034BB08E95}"/>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72735" rtl="0" eaLnBrk="1" fontAlgn="auto" latinLnBrk="0" hangingPunct="1">
                <a:lnSpc>
                  <a:spcPct val="100000"/>
                </a:lnSpc>
                <a:spcBef>
                  <a:spcPts val="0"/>
                </a:spcBef>
                <a:spcAft>
                  <a:spcPts val="0"/>
                </a:spcAft>
                <a:buClrTx/>
                <a:buSzTx/>
                <a:buFontTx/>
                <a:buNone/>
                <a:tabLst/>
                <a:defRPr/>
              </a:pPr>
              <a:endParaRPr kumimoji="0" lang="es-ES" sz="734"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42" name="Imagen 41">
            <a:extLst>
              <a:ext uri="{FF2B5EF4-FFF2-40B4-BE49-F238E27FC236}">
                <a16:creationId xmlns:a16="http://schemas.microsoft.com/office/drawing/2014/main" id="{932DAE39-1DEB-4E6E-8928-BB6DF22379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3687" y="568363"/>
            <a:ext cx="200423" cy="200423"/>
          </a:xfrm>
          <a:prstGeom prst="rect">
            <a:avLst/>
          </a:prstGeom>
          <a:effectLst>
            <a:outerShdw blurRad="50800" dist="38100" dir="2700000" algn="tl" rotWithShape="0">
              <a:prstClr val="black">
                <a:alpha val="40000"/>
              </a:prstClr>
            </a:outerShdw>
          </a:effectLst>
        </p:spPr>
      </p:pic>
      <p:pic>
        <p:nvPicPr>
          <p:cNvPr id="43" name="Imagen 42">
            <a:extLst>
              <a:ext uri="{FF2B5EF4-FFF2-40B4-BE49-F238E27FC236}">
                <a16:creationId xmlns:a16="http://schemas.microsoft.com/office/drawing/2014/main" id="{576880F3-2D36-49A3-9A0B-A964271ECC05}"/>
              </a:ext>
            </a:extLst>
          </p:cNvPr>
          <p:cNvPicPr/>
          <p:nvPr/>
        </p:nvPicPr>
        <p:blipFill>
          <a:blip r:embed="rId5">
            <a:extLst>
              <a:ext uri="{28A0092B-C50C-407E-A947-70E740481C1C}">
                <a14:useLocalDpi xmlns:a14="http://schemas.microsoft.com/office/drawing/2010/main" val="0"/>
              </a:ext>
            </a:extLst>
          </a:blip>
          <a:stretch>
            <a:fillRect/>
          </a:stretch>
        </p:blipFill>
        <p:spPr>
          <a:xfrm>
            <a:off x="4506543" y="568700"/>
            <a:ext cx="2577009" cy="4358486"/>
          </a:xfrm>
          <a:prstGeom prst="rect">
            <a:avLst/>
          </a:prstGeom>
          <a:effectLst/>
        </p:spPr>
      </p:pic>
      <p:sp>
        <p:nvSpPr>
          <p:cNvPr id="45" name="CuadroTexto 44">
            <a:extLst>
              <a:ext uri="{FF2B5EF4-FFF2-40B4-BE49-F238E27FC236}">
                <a16:creationId xmlns:a16="http://schemas.microsoft.com/office/drawing/2014/main" id="{55661B17-8713-406C-9657-27A109C41C19}"/>
              </a:ext>
            </a:extLst>
          </p:cNvPr>
          <p:cNvSpPr txBox="1"/>
          <p:nvPr/>
        </p:nvSpPr>
        <p:spPr>
          <a:xfrm>
            <a:off x="2042209" y="4668554"/>
            <a:ext cx="1867348" cy="338554"/>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Times New Roman" panose="02020603050405020304" pitchFamily="18" charset="0"/>
              </a:rPr>
              <a:t>Una vez llenado el formulario, presione el botón </a:t>
            </a:r>
            <a:r>
              <a:rPr kumimoji="0" lang="es-ES" sz="8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Registrarse</a:t>
            </a:r>
            <a:endParaRPr kumimoji="0" lang="es-ES" sz="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46" name="CuadroTexto 45">
            <a:extLst>
              <a:ext uri="{FF2B5EF4-FFF2-40B4-BE49-F238E27FC236}">
                <a16:creationId xmlns:a16="http://schemas.microsoft.com/office/drawing/2014/main" id="{A4645709-CE5D-4BA0-BE31-CD7A9486144F}"/>
              </a:ext>
            </a:extLst>
          </p:cNvPr>
          <p:cNvSpPr txBox="1"/>
          <p:nvPr/>
        </p:nvSpPr>
        <p:spPr>
          <a:xfrm>
            <a:off x="1241107" y="4188133"/>
            <a:ext cx="2668450" cy="338554"/>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8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Verificación Captcha</a:t>
            </a:r>
            <a:r>
              <a:rPr kumimoji="0" lang="es-ES" sz="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s-ES" sz="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Times New Roman" panose="02020603050405020304" pitchFamily="18" charset="0"/>
              </a:rPr>
              <a:t>complete el código solicitado para demostrar que es un usuario real.</a:t>
            </a:r>
            <a:endParaRPr kumimoji="0" lang="es-ES" sz="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CuadroTexto 46">
            <a:extLst>
              <a:ext uri="{FF2B5EF4-FFF2-40B4-BE49-F238E27FC236}">
                <a16:creationId xmlns:a16="http://schemas.microsoft.com/office/drawing/2014/main" id="{203089D8-EA67-4D7D-B389-0288425710BA}"/>
              </a:ext>
            </a:extLst>
          </p:cNvPr>
          <p:cNvSpPr txBox="1"/>
          <p:nvPr/>
        </p:nvSpPr>
        <p:spPr>
          <a:xfrm>
            <a:off x="1739804" y="538317"/>
            <a:ext cx="3179978" cy="293029"/>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l" defTabSz="372735" rtl="0" eaLnBrk="1" fontAlgn="auto" latinLnBrk="0" hangingPunct="1">
              <a:lnSpc>
                <a:spcPct val="100000"/>
              </a:lnSpc>
              <a:spcBef>
                <a:spcPts val="0"/>
              </a:spcBef>
              <a:spcAft>
                <a:spcPts val="0"/>
              </a:spcAft>
              <a:buClrTx/>
              <a:buSzTx/>
              <a:buFontTx/>
              <a:buNone/>
              <a:tabLst/>
              <a:defRPr/>
            </a:pPr>
            <a:r>
              <a:rPr kumimoji="0" lang="es-CU" sz="1304" b="1" i="0" u="none" strike="noStrike" kern="1200" cap="none" spc="0" normalizeH="0" baseline="0" noProof="0" dirty="0">
                <a:ln>
                  <a:solidFill>
                    <a:prstClr val="white"/>
                  </a:solidFill>
                </a:ln>
                <a:solidFill>
                  <a:prstClr val="white"/>
                </a:solidFill>
                <a:effectLst>
                  <a:glow rad="139700">
                    <a:srgbClr val="4472C4">
                      <a:satMod val="175000"/>
                      <a:alpha val="40000"/>
                    </a:srgbClr>
                  </a:glow>
                </a:effectLst>
                <a:uLnTx/>
                <a:uFillTx/>
                <a:latin typeface="Calibri" panose="020F0502020204030204" pitchFamily="34" charset="0"/>
                <a:ea typeface="Calibri" panose="020F0502020204030204" pitchFamily="34" charset="0"/>
                <a:cs typeface="Times New Roman" panose="02020603050405020304" pitchFamily="18" charset="0"/>
              </a:rPr>
              <a:t>Completar el formulario de registro</a:t>
            </a:r>
            <a:endParaRPr kumimoji="0" lang="es-ES" sz="1304" b="1" i="0" u="none" strike="noStrike" kern="1200" cap="none" spc="0" normalizeH="0" baseline="0" noProof="0" dirty="0">
              <a:ln>
                <a:solidFill>
                  <a:prstClr val="white"/>
                </a:solidFill>
              </a:ln>
              <a:solidFill>
                <a:prstClr val="white"/>
              </a:solidFill>
              <a:effectLst>
                <a:glow rad="139700">
                  <a:srgbClr val="4472C4">
                    <a:satMod val="175000"/>
                    <a:alpha val="40000"/>
                  </a:srgbClr>
                </a:glow>
              </a:effectLst>
              <a:uLnTx/>
              <a:uFillTx/>
              <a:latin typeface="Calibri" panose="020F0502020204030204"/>
              <a:ea typeface="+mn-ea"/>
              <a:cs typeface="+mn-cs"/>
            </a:endParaRPr>
          </a:p>
        </p:txBody>
      </p:sp>
      <p:sp>
        <p:nvSpPr>
          <p:cNvPr id="50" name="Rectángulo 49">
            <a:extLst>
              <a:ext uri="{FF2B5EF4-FFF2-40B4-BE49-F238E27FC236}">
                <a16:creationId xmlns:a16="http://schemas.microsoft.com/office/drawing/2014/main" id="{BFF3B5B3-F336-4CC1-8B39-44F80A9CEA4B}"/>
              </a:ext>
            </a:extLst>
          </p:cNvPr>
          <p:cNvSpPr/>
          <p:nvPr/>
        </p:nvSpPr>
        <p:spPr>
          <a:xfrm>
            <a:off x="1867710" y="801796"/>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734"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3" name="Conector recto 52">
            <a:extLst>
              <a:ext uri="{FF2B5EF4-FFF2-40B4-BE49-F238E27FC236}">
                <a16:creationId xmlns:a16="http://schemas.microsoft.com/office/drawing/2014/main" id="{5EA9C636-439B-4E4A-9CD1-0812DA2C542F}"/>
              </a:ext>
            </a:extLst>
          </p:cNvPr>
          <p:cNvCxnSpPr>
            <a:cxnSpLocks/>
          </p:cNvCxnSpPr>
          <p:nvPr/>
        </p:nvCxnSpPr>
        <p:spPr>
          <a:xfrm>
            <a:off x="1241107" y="481584"/>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cxnSp>
        <p:nvCxnSpPr>
          <p:cNvPr id="54" name="Conector recto 53">
            <a:extLst>
              <a:ext uri="{FF2B5EF4-FFF2-40B4-BE49-F238E27FC236}">
                <a16:creationId xmlns:a16="http://schemas.microsoft.com/office/drawing/2014/main" id="{9326DDFE-47F4-4FFB-9246-B8446E0CBDD4}"/>
              </a:ext>
            </a:extLst>
          </p:cNvPr>
          <p:cNvCxnSpPr>
            <a:cxnSpLocks/>
          </p:cNvCxnSpPr>
          <p:nvPr/>
        </p:nvCxnSpPr>
        <p:spPr>
          <a:xfrm>
            <a:off x="1271587" y="5590032"/>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pic>
        <p:nvPicPr>
          <p:cNvPr id="55" name="Imagen 54">
            <a:extLst>
              <a:ext uri="{FF2B5EF4-FFF2-40B4-BE49-F238E27FC236}">
                <a16:creationId xmlns:a16="http://schemas.microsoft.com/office/drawing/2014/main" id="{8E707559-8975-4FE8-BD65-151A5F44E2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747" y="6022436"/>
            <a:ext cx="200422" cy="200422"/>
          </a:xfrm>
          <a:prstGeom prst="rect">
            <a:avLst/>
          </a:prstGeom>
          <a:effectLst>
            <a:outerShdw blurRad="50800" dist="38100" dir="2700000" algn="tl" rotWithShape="0">
              <a:prstClr val="black">
                <a:alpha val="40000"/>
              </a:prstClr>
            </a:outerShdw>
          </a:effectLst>
        </p:spPr>
      </p:pic>
      <p:grpSp>
        <p:nvGrpSpPr>
          <p:cNvPr id="56" name="Grupo 55">
            <a:extLst>
              <a:ext uri="{FF2B5EF4-FFF2-40B4-BE49-F238E27FC236}">
                <a16:creationId xmlns:a16="http://schemas.microsoft.com/office/drawing/2014/main" id="{15CEE92B-A1B5-4A14-AE98-F7D3B3528242}"/>
              </a:ext>
            </a:extLst>
          </p:cNvPr>
          <p:cNvGrpSpPr/>
          <p:nvPr/>
        </p:nvGrpSpPr>
        <p:grpSpPr>
          <a:xfrm>
            <a:off x="1412847" y="6151036"/>
            <a:ext cx="52355" cy="44425"/>
            <a:chOff x="6571128" y="2259106"/>
            <a:chExt cx="277906" cy="286869"/>
          </a:xfrm>
          <a:effectLst>
            <a:outerShdw blurRad="50800" dist="38100" dir="2700000" algn="tl" rotWithShape="0">
              <a:prstClr val="black">
                <a:alpha val="40000"/>
              </a:prstClr>
            </a:outerShdw>
          </a:effectLst>
        </p:grpSpPr>
        <p:sp>
          <p:nvSpPr>
            <p:cNvPr id="57" name="Diagrama de flujo: conector 56">
              <a:extLst>
                <a:ext uri="{FF2B5EF4-FFF2-40B4-BE49-F238E27FC236}">
                  <a16:creationId xmlns:a16="http://schemas.microsoft.com/office/drawing/2014/main" id="{CCE07E0B-BCB3-4F69-9CE1-6360E54DEED1}"/>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72735">
                <a:defRPr/>
              </a:pPr>
              <a:endParaRPr lang="es-ES" sz="734">
                <a:solidFill>
                  <a:prstClr val="white"/>
                </a:solidFill>
                <a:latin typeface="Calibri" panose="020F0502020204030204"/>
              </a:endParaRPr>
            </a:p>
          </p:txBody>
        </p:sp>
        <p:sp>
          <p:nvSpPr>
            <p:cNvPr id="58" name="Diagrama de flujo: conector 57">
              <a:extLst>
                <a:ext uri="{FF2B5EF4-FFF2-40B4-BE49-F238E27FC236}">
                  <a16:creationId xmlns:a16="http://schemas.microsoft.com/office/drawing/2014/main" id="{7E70E814-8D2C-4BFA-ABEA-FEDBDB435FAB}"/>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72735">
                <a:defRPr/>
              </a:pPr>
              <a:endParaRPr lang="es-ES" sz="734">
                <a:solidFill>
                  <a:prstClr val="white"/>
                </a:solidFill>
                <a:latin typeface="Calibri" panose="020F0502020204030204"/>
              </a:endParaRPr>
            </a:p>
          </p:txBody>
        </p:sp>
      </p:grpSp>
      <p:pic>
        <p:nvPicPr>
          <p:cNvPr id="59" name="Imagen 58">
            <a:extLst>
              <a:ext uri="{FF2B5EF4-FFF2-40B4-BE49-F238E27FC236}">
                <a16:creationId xmlns:a16="http://schemas.microsoft.com/office/drawing/2014/main" id="{385599E3-A367-4ED5-8701-EEF5534E29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48880" y="6018798"/>
            <a:ext cx="200422" cy="200422"/>
          </a:xfrm>
          <a:prstGeom prst="rect">
            <a:avLst/>
          </a:prstGeom>
        </p:spPr>
      </p:pic>
      <p:sp>
        <p:nvSpPr>
          <p:cNvPr id="60" name="CuadroTexto 59">
            <a:extLst>
              <a:ext uri="{FF2B5EF4-FFF2-40B4-BE49-F238E27FC236}">
                <a16:creationId xmlns:a16="http://schemas.microsoft.com/office/drawing/2014/main" id="{8910B2D3-5EF2-4789-8665-965410B2EE23}"/>
              </a:ext>
            </a:extLst>
          </p:cNvPr>
          <p:cNvSpPr txBox="1"/>
          <p:nvPr/>
        </p:nvSpPr>
        <p:spPr>
          <a:xfrm>
            <a:off x="2051416" y="6642077"/>
            <a:ext cx="4656037" cy="778483"/>
          </a:xfrm>
          <a:prstGeom prst="rect">
            <a:avLst/>
          </a:prstGeom>
          <a:noFill/>
        </p:spPr>
        <p:txBody>
          <a:bodyPr wrap="square">
            <a:spAutoFit/>
          </a:bodyPr>
          <a:lstStyle/>
          <a:p>
            <a:pPr>
              <a:lnSpc>
                <a:spcPct val="107000"/>
              </a:lnSpc>
              <a:spcAft>
                <a:spcPts val="326"/>
              </a:spcAft>
            </a:pP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Revise la bandeja de entrada del correo que registró. Allí encontrará un mensaje enviado por la revista.</a:t>
            </a:r>
          </a:p>
          <a:p>
            <a:pPr>
              <a:lnSpc>
                <a:spcPct val="107000"/>
              </a:lnSpc>
              <a:spcAft>
                <a:spcPts val="326"/>
              </a:spcAft>
            </a:pPr>
            <a:br>
              <a:rPr lang="es-ES" sz="978"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b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Haga clic en el enlace de confirmación para activar su cuenta y completar el registro.</a:t>
            </a:r>
          </a:p>
        </p:txBody>
      </p:sp>
      <p:sp>
        <p:nvSpPr>
          <p:cNvPr id="61" name="CuadroTexto 60">
            <a:extLst>
              <a:ext uri="{FF2B5EF4-FFF2-40B4-BE49-F238E27FC236}">
                <a16:creationId xmlns:a16="http://schemas.microsoft.com/office/drawing/2014/main" id="{681E239F-0272-448D-9D94-ECC510D32C9D}"/>
              </a:ext>
            </a:extLst>
          </p:cNvPr>
          <p:cNvSpPr txBox="1"/>
          <p:nvPr/>
        </p:nvSpPr>
        <p:spPr>
          <a:xfrm>
            <a:off x="1766369" y="7978934"/>
            <a:ext cx="3464445" cy="414344"/>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nSpc>
                <a:spcPct val="107000"/>
              </a:lnSpc>
              <a:spcAft>
                <a:spcPts val="326"/>
              </a:spcAft>
            </a:pP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Nota:</a:t>
            </a:r>
            <a:r>
              <a:rPr lang="es-ES"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Una vez dentro de la revista, podrá modificar sus datos de perfil en cualquier momento desde la sección </a:t>
            </a: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Mi cuenta</a:t>
            </a:r>
            <a:r>
              <a:rPr lang="es-ES"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p>
        </p:txBody>
      </p:sp>
      <p:sp>
        <p:nvSpPr>
          <p:cNvPr id="62" name="CuadroTexto 61">
            <a:extLst>
              <a:ext uri="{FF2B5EF4-FFF2-40B4-BE49-F238E27FC236}">
                <a16:creationId xmlns:a16="http://schemas.microsoft.com/office/drawing/2014/main" id="{D1503C3D-BA05-4523-ACC7-A0116ED8C870}"/>
              </a:ext>
            </a:extLst>
          </p:cNvPr>
          <p:cNvSpPr txBox="1"/>
          <p:nvPr/>
        </p:nvSpPr>
        <p:spPr>
          <a:xfrm>
            <a:off x="1744442" y="5999129"/>
            <a:ext cx="3486372"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Confirmación por correo electrónico</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pic>
        <p:nvPicPr>
          <p:cNvPr id="63" name="Imagen 62">
            <a:extLst>
              <a:ext uri="{FF2B5EF4-FFF2-40B4-BE49-F238E27FC236}">
                <a16:creationId xmlns:a16="http://schemas.microsoft.com/office/drawing/2014/main" id="{AADC8828-9C65-4175-B2BA-E39B1D10C7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27624" y="7673249"/>
            <a:ext cx="782058" cy="782058"/>
          </a:xfrm>
          <a:prstGeom prst="rect">
            <a:avLst/>
          </a:prstGeom>
        </p:spPr>
      </p:pic>
      <p:sp>
        <p:nvSpPr>
          <p:cNvPr id="64" name="Rectángulo 63">
            <a:extLst>
              <a:ext uri="{FF2B5EF4-FFF2-40B4-BE49-F238E27FC236}">
                <a16:creationId xmlns:a16="http://schemas.microsoft.com/office/drawing/2014/main" id="{AEA4A666-4611-4598-8300-73AB91F25591}"/>
              </a:ext>
            </a:extLst>
          </p:cNvPr>
          <p:cNvSpPr/>
          <p:nvPr/>
        </p:nvSpPr>
        <p:spPr>
          <a:xfrm>
            <a:off x="1872349" y="6262607"/>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65" name="Diagrama de flujo: conector fuera de página 64">
            <a:extLst>
              <a:ext uri="{FF2B5EF4-FFF2-40B4-BE49-F238E27FC236}">
                <a16:creationId xmlns:a16="http://schemas.microsoft.com/office/drawing/2014/main" id="{8CE67BEA-8E4B-4264-AE66-F710759E5821}"/>
              </a:ext>
            </a:extLst>
          </p:cNvPr>
          <p:cNvSpPr/>
          <p:nvPr/>
        </p:nvSpPr>
        <p:spPr>
          <a:xfrm rot="16200000">
            <a:off x="1776350" y="7168728"/>
            <a:ext cx="222664" cy="220854"/>
          </a:xfrm>
          <a:prstGeom prst="flowChartOffpageConnector">
            <a:avLst/>
          </a:prstGeom>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66" name="Imagen 65">
            <a:extLst>
              <a:ext uri="{FF2B5EF4-FFF2-40B4-BE49-F238E27FC236}">
                <a16:creationId xmlns:a16="http://schemas.microsoft.com/office/drawing/2014/main" id="{18AAB5BE-D532-4F97-B3E3-9B602C0B44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91893" y="7189093"/>
            <a:ext cx="174017" cy="174017"/>
          </a:xfrm>
          <a:prstGeom prst="rect">
            <a:avLst/>
          </a:prstGeom>
          <a:effectLst>
            <a:outerShdw blurRad="50800" dist="38100" dir="2700000" algn="tl" rotWithShape="0">
              <a:prstClr val="black">
                <a:alpha val="40000"/>
              </a:prstClr>
            </a:outerShdw>
          </a:effectLst>
        </p:spPr>
      </p:pic>
      <p:sp>
        <p:nvSpPr>
          <p:cNvPr id="67" name="Diagrama de flujo: conector fuera de página 66">
            <a:extLst>
              <a:ext uri="{FF2B5EF4-FFF2-40B4-BE49-F238E27FC236}">
                <a16:creationId xmlns:a16="http://schemas.microsoft.com/office/drawing/2014/main" id="{C5D4362A-1F05-4AB0-AADF-39F134578B24}"/>
              </a:ext>
            </a:extLst>
          </p:cNvPr>
          <p:cNvSpPr/>
          <p:nvPr/>
        </p:nvSpPr>
        <p:spPr>
          <a:xfrm rot="16200000">
            <a:off x="1772368" y="6658865"/>
            <a:ext cx="222663" cy="216469"/>
          </a:xfrm>
          <a:prstGeom prst="flowChartOffpageConnector">
            <a:avLst/>
          </a:prstGeom>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68" name="Imagen 67">
            <a:extLst>
              <a:ext uri="{FF2B5EF4-FFF2-40B4-BE49-F238E27FC236}">
                <a16:creationId xmlns:a16="http://schemas.microsoft.com/office/drawing/2014/main" id="{C5957274-BB50-4218-8B5F-8B3935B89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5721" y="6672557"/>
            <a:ext cx="173255" cy="173255"/>
          </a:xfrm>
          <a:prstGeom prst="rect">
            <a:avLst/>
          </a:prstGeom>
          <a:effectLst>
            <a:outerShdw blurRad="50800" dist="38100" dir="2700000" algn="tl" rotWithShape="0">
              <a:prstClr val="black">
                <a:alpha val="40000"/>
              </a:prstClr>
            </a:outerShdw>
          </a:effectLst>
        </p:spPr>
      </p:pic>
      <p:sp>
        <p:nvSpPr>
          <p:cNvPr id="69" name="Marco 68">
            <a:extLst>
              <a:ext uri="{FF2B5EF4-FFF2-40B4-BE49-F238E27FC236}">
                <a16:creationId xmlns:a16="http://schemas.microsoft.com/office/drawing/2014/main" id="{987B34C3-8D1B-455B-B463-1FB6C4005BD6}"/>
              </a:ext>
            </a:extLst>
          </p:cNvPr>
          <p:cNvSpPr/>
          <p:nvPr/>
        </p:nvSpPr>
        <p:spPr>
          <a:xfrm>
            <a:off x="4506543" y="532768"/>
            <a:ext cx="2577009" cy="4424799"/>
          </a:xfrm>
          <a:prstGeom prst="frame">
            <a:avLst>
              <a:gd name="adj1" fmla="val 719"/>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pic>
        <p:nvPicPr>
          <p:cNvPr id="70" name="Imagen 69">
            <a:extLst>
              <a:ext uri="{FF2B5EF4-FFF2-40B4-BE49-F238E27FC236}">
                <a16:creationId xmlns:a16="http://schemas.microsoft.com/office/drawing/2014/main" id="{D22F4A57-EA5C-4633-BAED-569E609705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200000">
            <a:off x="3957972" y="4107892"/>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71" name="Imagen 70">
            <a:extLst>
              <a:ext uri="{FF2B5EF4-FFF2-40B4-BE49-F238E27FC236}">
                <a16:creationId xmlns:a16="http://schemas.microsoft.com/office/drawing/2014/main" id="{8AD4BDAD-56C9-481E-8EA1-4E77D62E6E3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200000">
            <a:off x="3948605" y="4522039"/>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410375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Imagen 88">
            <a:extLst>
              <a:ext uri="{FF2B5EF4-FFF2-40B4-BE49-F238E27FC236}">
                <a16:creationId xmlns:a16="http://schemas.microsoft.com/office/drawing/2014/main" id="{7532B38C-6141-4F34-A325-BD5E6E07C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sp>
        <p:nvSpPr>
          <p:cNvPr id="31" name="Diagrama de flujo: conector 30">
            <a:extLst>
              <a:ext uri="{FF2B5EF4-FFF2-40B4-BE49-F238E27FC236}">
                <a16:creationId xmlns:a16="http://schemas.microsoft.com/office/drawing/2014/main" id="{E133DEFC-B30B-4DB7-8DBF-25AD5CDE8C94}"/>
              </a:ext>
            </a:extLst>
          </p:cNvPr>
          <p:cNvSpPr/>
          <p:nvPr/>
        </p:nvSpPr>
        <p:spPr>
          <a:xfrm>
            <a:off x="728052" y="630197"/>
            <a:ext cx="443465" cy="443465"/>
          </a:xfrm>
          <a:prstGeom prst="flowChartConnector">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32" name="Imagen 31">
            <a:extLst>
              <a:ext uri="{FF2B5EF4-FFF2-40B4-BE49-F238E27FC236}">
                <a16:creationId xmlns:a16="http://schemas.microsoft.com/office/drawing/2014/main" id="{58BD38B1-D529-4AE9-B98B-2B621F04C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133" y="675969"/>
            <a:ext cx="339044" cy="339044"/>
          </a:xfrm>
          <a:prstGeom prst="rect">
            <a:avLst/>
          </a:prstGeom>
          <a:effectLst>
            <a:outerShdw blurRad="50800" dist="38100" dir="2700000" algn="tl" rotWithShape="0">
              <a:prstClr val="black">
                <a:alpha val="40000"/>
              </a:prstClr>
            </a:outerShdw>
          </a:effectLst>
        </p:spPr>
      </p:pic>
      <p:sp>
        <p:nvSpPr>
          <p:cNvPr id="33" name="CuadroTexto 32">
            <a:extLst>
              <a:ext uri="{FF2B5EF4-FFF2-40B4-BE49-F238E27FC236}">
                <a16:creationId xmlns:a16="http://schemas.microsoft.com/office/drawing/2014/main" id="{F2424E10-EEF4-4643-8A90-006B1650BECD}"/>
              </a:ext>
            </a:extLst>
          </p:cNvPr>
          <p:cNvSpPr txBox="1"/>
          <p:nvPr/>
        </p:nvSpPr>
        <p:spPr>
          <a:xfrm>
            <a:off x="1256762" y="1227978"/>
            <a:ext cx="4759990" cy="414344"/>
          </a:xfrm>
          <a:prstGeom prst="rect">
            <a:avLst/>
          </a:prstGeom>
          <a:noFill/>
        </p:spPr>
        <p:txBody>
          <a:bodyPr wrap="square">
            <a:spAutoFit/>
          </a:bodyPr>
          <a:lstStyle/>
          <a:p>
            <a:pPr>
              <a:lnSpc>
                <a:spcPct val="107000"/>
              </a:lnSpc>
              <a:spcAft>
                <a:spcPts val="326"/>
              </a:spcAft>
            </a:pP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Una vez que haya iniciado sesión con su usuario y contraseña, siga estos pasos para someter su artículo.</a:t>
            </a:r>
          </a:p>
        </p:txBody>
      </p:sp>
      <p:sp>
        <p:nvSpPr>
          <p:cNvPr id="34" name="CuadroTexto 33">
            <a:extLst>
              <a:ext uri="{FF2B5EF4-FFF2-40B4-BE49-F238E27FC236}">
                <a16:creationId xmlns:a16="http://schemas.microsoft.com/office/drawing/2014/main" id="{77C4F5F5-5CF6-4A5A-BFC4-367E86B7836F}"/>
              </a:ext>
            </a:extLst>
          </p:cNvPr>
          <p:cNvSpPr txBox="1"/>
          <p:nvPr/>
        </p:nvSpPr>
        <p:spPr>
          <a:xfrm>
            <a:off x="1256762" y="738280"/>
            <a:ext cx="4254022"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Procedimiento para realizar un nuevo envío</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35" name="Rectángulo 34">
            <a:extLst>
              <a:ext uri="{FF2B5EF4-FFF2-40B4-BE49-F238E27FC236}">
                <a16:creationId xmlns:a16="http://schemas.microsoft.com/office/drawing/2014/main" id="{4D0F89AB-F0D1-4D64-A54D-92DF372A7C16}"/>
              </a:ext>
            </a:extLst>
          </p:cNvPr>
          <p:cNvSpPr/>
          <p:nvPr/>
        </p:nvSpPr>
        <p:spPr>
          <a:xfrm>
            <a:off x="1384669" y="1001759"/>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36" name="Imagen 35">
            <a:extLst>
              <a:ext uri="{FF2B5EF4-FFF2-40B4-BE49-F238E27FC236}">
                <a16:creationId xmlns:a16="http://schemas.microsoft.com/office/drawing/2014/main" id="{CF8F3AF1-A7F7-4667-8195-4DB1417A4B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6762" y="2146249"/>
            <a:ext cx="197389" cy="197389"/>
          </a:xfrm>
          <a:prstGeom prst="rect">
            <a:avLst/>
          </a:prstGeom>
          <a:effectLst>
            <a:outerShdw blurRad="50800" dist="38100" dir="2700000" algn="tl" rotWithShape="0">
              <a:prstClr val="black">
                <a:alpha val="40000"/>
              </a:prstClr>
            </a:outerShdw>
          </a:effectLst>
        </p:spPr>
      </p:pic>
      <p:pic>
        <p:nvPicPr>
          <p:cNvPr id="37" name="Imagen 36">
            <a:extLst>
              <a:ext uri="{FF2B5EF4-FFF2-40B4-BE49-F238E27FC236}">
                <a16:creationId xmlns:a16="http://schemas.microsoft.com/office/drawing/2014/main" id="{B8F595D9-087C-41A6-970F-66A895A622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1847" y="2142466"/>
            <a:ext cx="200422" cy="200422"/>
          </a:xfrm>
          <a:prstGeom prst="rect">
            <a:avLst/>
          </a:prstGeom>
          <a:effectLst>
            <a:outerShdw blurRad="50800" dist="38100" dir="2700000" algn="tl" rotWithShape="0">
              <a:prstClr val="black">
                <a:alpha val="40000"/>
              </a:prstClr>
            </a:outerShdw>
          </a:effectLst>
        </p:spPr>
      </p:pic>
      <p:grpSp>
        <p:nvGrpSpPr>
          <p:cNvPr id="44" name="Grupo 43">
            <a:extLst>
              <a:ext uri="{FF2B5EF4-FFF2-40B4-BE49-F238E27FC236}">
                <a16:creationId xmlns:a16="http://schemas.microsoft.com/office/drawing/2014/main" id="{3788E2D6-9685-4687-980C-35E6263F59B4}"/>
              </a:ext>
            </a:extLst>
          </p:cNvPr>
          <p:cNvGrpSpPr/>
          <p:nvPr/>
        </p:nvGrpSpPr>
        <p:grpSpPr>
          <a:xfrm>
            <a:off x="1437231" y="2277280"/>
            <a:ext cx="52355" cy="44425"/>
            <a:chOff x="6571128" y="2259106"/>
            <a:chExt cx="277906" cy="286869"/>
          </a:xfrm>
          <a:effectLst>
            <a:outerShdw blurRad="50800" dist="38100" dir="2700000" algn="tl" rotWithShape="0">
              <a:prstClr val="black">
                <a:alpha val="40000"/>
              </a:prstClr>
            </a:outerShdw>
          </a:effectLst>
        </p:grpSpPr>
        <p:sp>
          <p:nvSpPr>
            <p:cNvPr id="51" name="Diagrama de flujo: conector 50">
              <a:extLst>
                <a:ext uri="{FF2B5EF4-FFF2-40B4-BE49-F238E27FC236}">
                  <a16:creationId xmlns:a16="http://schemas.microsoft.com/office/drawing/2014/main" id="{F1FD3280-F1BD-4ACB-94A7-6CECD3F593C6}"/>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52" name="Diagrama de flujo: conector 51">
              <a:extLst>
                <a:ext uri="{FF2B5EF4-FFF2-40B4-BE49-F238E27FC236}">
                  <a16:creationId xmlns:a16="http://schemas.microsoft.com/office/drawing/2014/main" id="{17C0925B-281A-4DC4-A99E-CEC3ABAB4D95}"/>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grpSp>
      <p:pic>
        <p:nvPicPr>
          <p:cNvPr id="69" name="Imagen 68">
            <a:extLst>
              <a:ext uri="{FF2B5EF4-FFF2-40B4-BE49-F238E27FC236}">
                <a16:creationId xmlns:a16="http://schemas.microsoft.com/office/drawing/2014/main" id="{0350BC34-8E7F-4131-B080-B2127B94A4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5170" y="3169546"/>
            <a:ext cx="3668590" cy="1130094"/>
          </a:xfrm>
          <a:prstGeom prst="rect">
            <a:avLst/>
          </a:prstGeom>
          <a:effectLst/>
        </p:spPr>
      </p:pic>
      <p:sp>
        <p:nvSpPr>
          <p:cNvPr id="70" name="CuadroTexto 69">
            <a:extLst>
              <a:ext uri="{FF2B5EF4-FFF2-40B4-BE49-F238E27FC236}">
                <a16:creationId xmlns:a16="http://schemas.microsoft.com/office/drawing/2014/main" id="{364B30C5-112B-43EE-AE2C-D81EF8725AAF}"/>
              </a:ext>
            </a:extLst>
          </p:cNvPr>
          <p:cNvSpPr txBox="1"/>
          <p:nvPr/>
        </p:nvSpPr>
        <p:spPr>
          <a:xfrm>
            <a:off x="1669765" y="2697860"/>
            <a:ext cx="4926107" cy="400110"/>
          </a:xfrm>
          <a:prstGeom prst="rect">
            <a:avLst/>
          </a:prstGeom>
          <a:noFill/>
        </p:spPr>
        <p:txBody>
          <a:bodyPr wrap="square">
            <a:spAutoFit/>
          </a:bodyPr>
          <a:lstStyle/>
          <a:p>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 el menú principal de usuario, diríjase a la pestaña </a:t>
            </a: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Envíos</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y haga clic en el botón </a:t>
            </a: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Nuevo Envío</a:t>
            </a:r>
            <a:endParaRPr lang="es-ES" sz="1000" dirty="0">
              <a:solidFill>
                <a:srgbClr val="FF0000"/>
              </a:solidFill>
            </a:endParaRPr>
          </a:p>
        </p:txBody>
      </p:sp>
      <p:sp>
        <p:nvSpPr>
          <p:cNvPr id="71" name="CuadroTexto 70">
            <a:extLst>
              <a:ext uri="{FF2B5EF4-FFF2-40B4-BE49-F238E27FC236}">
                <a16:creationId xmlns:a16="http://schemas.microsoft.com/office/drawing/2014/main" id="{F1261F09-EE72-47CD-8DE9-42B81AC0E591}"/>
              </a:ext>
            </a:extLst>
          </p:cNvPr>
          <p:cNvSpPr txBox="1"/>
          <p:nvPr/>
        </p:nvSpPr>
        <p:spPr>
          <a:xfrm>
            <a:off x="1765171" y="2125373"/>
            <a:ext cx="2380109"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Acceder a la sección Envíos</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73" name="Rectángulo 72">
            <a:extLst>
              <a:ext uri="{FF2B5EF4-FFF2-40B4-BE49-F238E27FC236}">
                <a16:creationId xmlns:a16="http://schemas.microsoft.com/office/drawing/2014/main" id="{D3325790-B7DB-4E74-9871-92E611EB5225}"/>
              </a:ext>
            </a:extLst>
          </p:cNvPr>
          <p:cNvSpPr/>
          <p:nvPr/>
        </p:nvSpPr>
        <p:spPr>
          <a:xfrm>
            <a:off x="1893078" y="2388851"/>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74" name="Imagen 73">
            <a:extLst>
              <a:ext uri="{FF2B5EF4-FFF2-40B4-BE49-F238E27FC236}">
                <a16:creationId xmlns:a16="http://schemas.microsoft.com/office/drawing/2014/main" id="{2D25D697-3B64-4447-87A7-AFCE2FE17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6761" y="5303398"/>
            <a:ext cx="197389" cy="197389"/>
          </a:xfrm>
          <a:prstGeom prst="rect">
            <a:avLst/>
          </a:prstGeom>
          <a:effectLst>
            <a:outerShdw blurRad="50800" dist="38100" dir="2700000" algn="tl" rotWithShape="0">
              <a:prstClr val="black">
                <a:alpha val="40000"/>
              </a:prstClr>
            </a:outerShdw>
          </a:effectLst>
        </p:spPr>
      </p:pic>
      <p:grpSp>
        <p:nvGrpSpPr>
          <p:cNvPr id="75" name="Grupo 74">
            <a:extLst>
              <a:ext uri="{FF2B5EF4-FFF2-40B4-BE49-F238E27FC236}">
                <a16:creationId xmlns:a16="http://schemas.microsoft.com/office/drawing/2014/main" id="{E5149D53-7240-4953-88A5-4E4997D54D7D}"/>
              </a:ext>
            </a:extLst>
          </p:cNvPr>
          <p:cNvGrpSpPr/>
          <p:nvPr/>
        </p:nvGrpSpPr>
        <p:grpSpPr>
          <a:xfrm>
            <a:off x="1437230" y="5434429"/>
            <a:ext cx="52355" cy="44425"/>
            <a:chOff x="6571128" y="2259106"/>
            <a:chExt cx="277906" cy="286869"/>
          </a:xfrm>
          <a:effectLst>
            <a:outerShdw blurRad="50800" dist="38100" dir="2700000" algn="tl" rotWithShape="0">
              <a:prstClr val="black">
                <a:alpha val="40000"/>
              </a:prstClr>
            </a:outerShdw>
          </a:effectLst>
        </p:grpSpPr>
        <p:sp>
          <p:nvSpPr>
            <p:cNvPr id="76" name="Diagrama de flujo: conector 75">
              <a:extLst>
                <a:ext uri="{FF2B5EF4-FFF2-40B4-BE49-F238E27FC236}">
                  <a16:creationId xmlns:a16="http://schemas.microsoft.com/office/drawing/2014/main" id="{66BDA808-8614-4A87-8AB4-CA2F7638C2F4}"/>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77" name="Diagrama de flujo: conector 76">
              <a:extLst>
                <a:ext uri="{FF2B5EF4-FFF2-40B4-BE49-F238E27FC236}">
                  <a16:creationId xmlns:a16="http://schemas.microsoft.com/office/drawing/2014/main" id="{D0CC8CD5-68FB-4336-8FE9-B6A461D0A3B4}"/>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grpSp>
      <p:pic>
        <p:nvPicPr>
          <p:cNvPr id="78" name="Imagen 77">
            <a:extLst>
              <a:ext uri="{FF2B5EF4-FFF2-40B4-BE49-F238E27FC236}">
                <a16:creationId xmlns:a16="http://schemas.microsoft.com/office/drawing/2014/main" id="{569B845F-27EB-4A1E-B42B-FB5E003881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2376" y="5303398"/>
            <a:ext cx="197389" cy="197389"/>
          </a:xfrm>
          <a:prstGeom prst="rect">
            <a:avLst/>
          </a:prstGeom>
          <a:effectLst>
            <a:outerShdw blurRad="50800" dist="38100" dir="2700000" algn="tl" rotWithShape="0">
              <a:prstClr val="black">
                <a:alpha val="40000"/>
              </a:prstClr>
            </a:outerShdw>
          </a:effectLst>
        </p:spPr>
      </p:pic>
      <p:sp>
        <p:nvSpPr>
          <p:cNvPr id="79" name="CuadroTexto 78">
            <a:extLst>
              <a:ext uri="{FF2B5EF4-FFF2-40B4-BE49-F238E27FC236}">
                <a16:creationId xmlns:a16="http://schemas.microsoft.com/office/drawing/2014/main" id="{1DDBB5F2-C5C0-47B8-9573-861515A5C88B}"/>
              </a:ext>
            </a:extLst>
          </p:cNvPr>
          <p:cNvSpPr txBox="1"/>
          <p:nvPr/>
        </p:nvSpPr>
        <p:spPr>
          <a:xfrm>
            <a:off x="1669765" y="7070698"/>
            <a:ext cx="4574668" cy="461665"/>
          </a:xfrm>
          <a:prstGeom prst="rect">
            <a:avLst/>
          </a:prstGeom>
          <a:noFill/>
        </p:spPr>
        <p:txBody>
          <a:bodyPr wrap="square">
            <a:spAutoFit/>
          </a:bodyPr>
          <a:lstStyle/>
          <a:p>
            <a:r>
              <a:rPr lang="es-ES" sz="12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El sistema guiará su proceso a través de cinco etapas. A continuación se detalla cada una</a:t>
            </a:r>
            <a:endParaRPr lang="es-ES" sz="1200" b="1" dirty="0">
              <a:solidFill>
                <a:schemeClr val="tx1">
                  <a:lumMod val="65000"/>
                  <a:lumOff val="35000"/>
                </a:schemeClr>
              </a:solidFill>
            </a:endParaRPr>
          </a:p>
        </p:txBody>
      </p:sp>
      <p:pic>
        <p:nvPicPr>
          <p:cNvPr id="80" name="Imagen 79">
            <a:extLst>
              <a:ext uri="{FF2B5EF4-FFF2-40B4-BE49-F238E27FC236}">
                <a16:creationId xmlns:a16="http://schemas.microsoft.com/office/drawing/2014/main" id="{21AA3A1B-FD2C-4549-AB13-72159E509D30}"/>
              </a:ext>
            </a:extLst>
          </p:cNvPr>
          <p:cNvPicPr/>
          <p:nvPr/>
        </p:nvPicPr>
        <p:blipFill rotWithShape="1">
          <a:blip r:embed="rId6"/>
          <a:srcRect r="23549" b="14857"/>
          <a:stretch/>
        </p:blipFill>
        <p:spPr bwMode="auto">
          <a:xfrm>
            <a:off x="1772478" y="6091177"/>
            <a:ext cx="4244273" cy="582693"/>
          </a:xfrm>
          <a:prstGeom prst="rect">
            <a:avLst/>
          </a:prstGeom>
          <a:ln>
            <a:noFill/>
          </a:ln>
          <a:effectLst/>
          <a:extLst>
            <a:ext uri="{53640926-AAD7-44D8-BBD7-CCE9431645EC}">
              <a14:shadowObscured xmlns:a14="http://schemas.microsoft.com/office/drawing/2010/main"/>
            </a:ext>
          </a:extLst>
        </p:spPr>
      </p:pic>
      <p:sp>
        <p:nvSpPr>
          <p:cNvPr id="81" name="CuadroTexto 80">
            <a:extLst>
              <a:ext uri="{FF2B5EF4-FFF2-40B4-BE49-F238E27FC236}">
                <a16:creationId xmlns:a16="http://schemas.microsoft.com/office/drawing/2014/main" id="{9AA5FFCC-2C97-4EA5-BDFE-47F98344E29B}"/>
              </a:ext>
            </a:extLst>
          </p:cNvPr>
          <p:cNvSpPr txBox="1"/>
          <p:nvPr/>
        </p:nvSpPr>
        <p:spPr>
          <a:xfrm>
            <a:off x="1765169" y="5282521"/>
            <a:ext cx="3961767"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Completar los pasos del asistente de envíos</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82" name="Rectángulo 81">
            <a:extLst>
              <a:ext uri="{FF2B5EF4-FFF2-40B4-BE49-F238E27FC236}">
                <a16:creationId xmlns:a16="http://schemas.microsoft.com/office/drawing/2014/main" id="{8258D3E5-C560-429D-9799-2BCC4ECD6333}"/>
              </a:ext>
            </a:extLst>
          </p:cNvPr>
          <p:cNvSpPr/>
          <p:nvPr/>
        </p:nvSpPr>
        <p:spPr>
          <a:xfrm>
            <a:off x="1893077" y="5546000"/>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cxnSp>
        <p:nvCxnSpPr>
          <p:cNvPr id="83" name="Conector recto 82">
            <a:extLst>
              <a:ext uri="{FF2B5EF4-FFF2-40B4-BE49-F238E27FC236}">
                <a16:creationId xmlns:a16="http://schemas.microsoft.com/office/drawing/2014/main" id="{6A32F580-F0B5-48E8-9771-CF25CFA84BB0}"/>
              </a:ext>
            </a:extLst>
          </p:cNvPr>
          <p:cNvCxnSpPr>
            <a:cxnSpLocks/>
          </p:cNvCxnSpPr>
          <p:nvPr/>
        </p:nvCxnSpPr>
        <p:spPr>
          <a:xfrm>
            <a:off x="1300821" y="2023883"/>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cxnSp>
        <p:nvCxnSpPr>
          <p:cNvPr id="84" name="Conector recto 83">
            <a:extLst>
              <a:ext uri="{FF2B5EF4-FFF2-40B4-BE49-F238E27FC236}">
                <a16:creationId xmlns:a16="http://schemas.microsoft.com/office/drawing/2014/main" id="{48BAE295-69B3-4E91-B963-2F0C3CCF352E}"/>
              </a:ext>
            </a:extLst>
          </p:cNvPr>
          <p:cNvCxnSpPr>
            <a:cxnSpLocks/>
          </p:cNvCxnSpPr>
          <p:nvPr/>
        </p:nvCxnSpPr>
        <p:spPr>
          <a:xfrm>
            <a:off x="1300821" y="5193792"/>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sp>
        <p:nvSpPr>
          <p:cNvPr id="85" name="Marco 84">
            <a:extLst>
              <a:ext uri="{FF2B5EF4-FFF2-40B4-BE49-F238E27FC236}">
                <a16:creationId xmlns:a16="http://schemas.microsoft.com/office/drawing/2014/main" id="{D2932433-C9E4-4FEF-B6AD-CFD529383136}"/>
              </a:ext>
            </a:extLst>
          </p:cNvPr>
          <p:cNvSpPr/>
          <p:nvPr/>
        </p:nvSpPr>
        <p:spPr>
          <a:xfrm>
            <a:off x="1745649" y="3165885"/>
            <a:ext cx="3688112" cy="1174298"/>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86" name="Marco 85">
            <a:extLst>
              <a:ext uri="{FF2B5EF4-FFF2-40B4-BE49-F238E27FC236}">
                <a16:creationId xmlns:a16="http://schemas.microsoft.com/office/drawing/2014/main" id="{3D64D75B-4BDB-475A-92BA-E158DE73DAEB}"/>
              </a:ext>
            </a:extLst>
          </p:cNvPr>
          <p:cNvSpPr/>
          <p:nvPr/>
        </p:nvSpPr>
        <p:spPr>
          <a:xfrm>
            <a:off x="1755409" y="6059318"/>
            <a:ext cx="4261342" cy="614551"/>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87" name="Imagen 86">
            <a:extLst>
              <a:ext uri="{FF2B5EF4-FFF2-40B4-BE49-F238E27FC236}">
                <a16:creationId xmlns:a16="http://schemas.microsoft.com/office/drawing/2014/main" id="{12675C8D-4E89-48FE-86E9-7922928FD4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7341" y="7940863"/>
            <a:ext cx="1204630" cy="1204630"/>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88" name="Imagen 87">
            <a:extLst>
              <a:ext uri="{FF2B5EF4-FFF2-40B4-BE49-F238E27FC236}">
                <a16:creationId xmlns:a16="http://schemas.microsoft.com/office/drawing/2014/main" id="{762E326F-5AD1-42DE-8C1E-5865C80C6C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7956786">
            <a:off x="5103850" y="3700097"/>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71219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Imagen 67">
            <a:extLst>
              <a:ext uri="{FF2B5EF4-FFF2-40B4-BE49-F238E27FC236}">
                <a16:creationId xmlns:a16="http://schemas.microsoft.com/office/drawing/2014/main" id="{3B670520-D069-4C66-B8F2-82A2D4E12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sp>
        <p:nvSpPr>
          <p:cNvPr id="33" name="CuadroTexto 32">
            <a:extLst>
              <a:ext uri="{FF2B5EF4-FFF2-40B4-BE49-F238E27FC236}">
                <a16:creationId xmlns:a16="http://schemas.microsoft.com/office/drawing/2014/main" id="{F2424E10-EEF4-4643-8A90-006B1650BECD}"/>
              </a:ext>
            </a:extLst>
          </p:cNvPr>
          <p:cNvSpPr txBox="1"/>
          <p:nvPr/>
        </p:nvSpPr>
        <p:spPr>
          <a:xfrm>
            <a:off x="1256762" y="880506"/>
            <a:ext cx="4759990" cy="414344"/>
          </a:xfrm>
          <a:prstGeom prst="rect">
            <a:avLst/>
          </a:prstGeom>
          <a:noFill/>
        </p:spPr>
        <p:txBody>
          <a:bodyPr wrap="square">
            <a:spAutoFit/>
          </a:bodyPr>
          <a:lstStyle/>
          <a:p>
            <a:pPr marL="0" marR="0" lvl="0" indent="0" algn="l" defTabSz="457200" rtl="0" eaLnBrk="1" fontAlgn="auto" latinLnBrk="0" hangingPunct="1">
              <a:lnSpc>
                <a:spcPct val="107000"/>
              </a:lnSpc>
              <a:spcBef>
                <a:spcPts val="0"/>
              </a:spcBef>
              <a:spcAft>
                <a:spcPts val="326"/>
              </a:spcAft>
              <a:buClrTx/>
              <a:buSzTx/>
              <a:buFontTx/>
              <a:buNone/>
              <a:tabLst/>
              <a:defRPr/>
            </a:pPr>
            <a:r>
              <a:rPr kumimoji="0" lang="es-ES" sz="1000" b="0" i="0" u="none" strike="noStrike" kern="1200" cap="none" spc="0" normalizeH="0" baseline="0" noProof="0" dirty="0">
                <a:ln>
                  <a:noFill/>
                </a:ln>
                <a:solidFill>
                  <a:prstClr val="black">
                    <a:lumMod val="65000"/>
                    <a:lumOff val="35000"/>
                  </a:prstClr>
                </a:solidFill>
                <a:effectLst/>
                <a:uLnTx/>
                <a:uFillTx/>
                <a:latin typeface="Calibri" panose="020F0502020204030204" pitchFamily="34" charset="0"/>
                <a:ea typeface="Calibri" panose="020F0502020204030204" pitchFamily="34" charset="0"/>
                <a:cs typeface="Times New Roman" panose="02020603050405020304" pitchFamily="18" charset="0"/>
              </a:rPr>
              <a:t>Una vez que haya iniciado sesión con su usuario y contraseña, siga estos pasos para someter su artículo.</a:t>
            </a:r>
          </a:p>
        </p:txBody>
      </p:sp>
      <p:cxnSp>
        <p:nvCxnSpPr>
          <p:cNvPr id="83" name="Conector recto 82">
            <a:extLst>
              <a:ext uri="{FF2B5EF4-FFF2-40B4-BE49-F238E27FC236}">
                <a16:creationId xmlns:a16="http://schemas.microsoft.com/office/drawing/2014/main" id="{6A32F580-F0B5-48E8-9771-CF25CFA84BB0}"/>
              </a:ext>
            </a:extLst>
          </p:cNvPr>
          <p:cNvCxnSpPr>
            <a:cxnSpLocks/>
          </p:cNvCxnSpPr>
          <p:nvPr/>
        </p:nvCxnSpPr>
        <p:spPr>
          <a:xfrm>
            <a:off x="1331301" y="1621547"/>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pic>
        <p:nvPicPr>
          <p:cNvPr id="30" name="Imagen 29">
            <a:extLst>
              <a:ext uri="{FF2B5EF4-FFF2-40B4-BE49-F238E27FC236}">
                <a16:creationId xmlns:a16="http://schemas.microsoft.com/office/drawing/2014/main" id="{361D6226-9252-4D1E-8D1E-646DB6E05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6762" y="1864870"/>
            <a:ext cx="197389" cy="197389"/>
          </a:xfrm>
          <a:prstGeom prst="rect">
            <a:avLst/>
          </a:prstGeom>
          <a:effectLst>
            <a:outerShdw blurRad="50800" dist="38100" dir="2700000" algn="tl" rotWithShape="0">
              <a:prstClr val="black">
                <a:alpha val="40000"/>
              </a:prstClr>
            </a:outerShdw>
          </a:effectLst>
        </p:spPr>
      </p:pic>
      <p:grpSp>
        <p:nvGrpSpPr>
          <p:cNvPr id="38" name="Grupo 37">
            <a:extLst>
              <a:ext uri="{FF2B5EF4-FFF2-40B4-BE49-F238E27FC236}">
                <a16:creationId xmlns:a16="http://schemas.microsoft.com/office/drawing/2014/main" id="{1A28AAE2-4981-4410-B4ED-F5D53233973C}"/>
              </a:ext>
            </a:extLst>
          </p:cNvPr>
          <p:cNvGrpSpPr/>
          <p:nvPr/>
        </p:nvGrpSpPr>
        <p:grpSpPr>
          <a:xfrm>
            <a:off x="1437231" y="1995901"/>
            <a:ext cx="52355" cy="44425"/>
            <a:chOff x="6571128" y="2259106"/>
            <a:chExt cx="277906" cy="286869"/>
          </a:xfrm>
          <a:effectLst>
            <a:outerShdw blurRad="50800" dist="38100" dir="2700000" algn="tl" rotWithShape="0">
              <a:prstClr val="black">
                <a:alpha val="40000"/>
              </a:prstClr>
            </a:outerShdw>
          </a:effectLst>
        </p:grpSpPr>
        <p:sp>
          <p:nvSpPr>
            <p:cNvPr id="39" name="Diagrama de flujo: conector 38">
              <a:extLst>
                <a:ext uri="{FF2B5EF4-FFF2-40B4-BE49-F238E27FC236}">
                  <a16:creationId xmlns:a16="http://schemas.microsoft.com/office/drawing/2014/main" id="{9678982F-437B-4746-BB74-BCDD09B111DF}"/>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40" name="Diagrama de flujo: conector 39">
              <a:extLst>
                <a:ext uri="{FF2B5EF4-FFF2-40B4-BE49-F238E27FC236}">
                  <a16:creationId xmlns:a16="http://schemas.microsoft.com/office/drawing/2014/main" id="{54545E7C-0A35-42A3-A778-25D4F32C99DD}"/>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grpSp>
      <p:pic>
        <p:nvPicPr>
          <p:cNvPr id="41" name="Imagen 40">
            <a:extLst>
              <a:ext uri="{FF2B5EF4-FFF2-40B4-BE49-F238E27FC236}">
                <a16:creationId xmlns:a16="http://schemas.microsoft.com/office/drawing/2014/main" id="{D31F37EE-53B0-49B0-A118-AB40CD388E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9055" y="1874040"/>
            <a:ext cx="200423" cy="200423"/>
          </a:xfrm>
          <a:prstGeom prst="rect">
            <a:avLst/>
          </a:prstGeom>
          <a:effectLst>
            <a:outerShdw blurRad="50800" dist="38100" dir="2700000" algn="tl" rotWithShape="0">
              <a:prstClr val="black">
                <a:alpha val="40000"/>
              </a:prstClr>
            </a:outerShdw>
          </a:effectLst>
        </p:spPr>
      </p:pic>
      <p:sp>
        <p:nvSpPr>
          <p:cNvPr id="42" name="CuadroTexto 41">
            <a:extLst>
              <a:ext uri="{FF2B5EF4-FFF2-40B4-BE49-F238E27FC236}">
                <a16:creationId xmlns:a16="http://schemas.microsoft.com/office/drawing/2014/main" id="{B5AABDF1-1423-43C9-92B4-1876274869F6}"/>
              </a:ext>
            </a:extLst>
          </p:cNvPr>
          <p:cNvSpPr txBox="1"/>
          <p:nvPr/>
        </p:nvSpPr>
        <p:spPr>
          <a:xfrm>
            <a:off x="1508617" y="4739717"/>
            <a:ext cx="2512107" cy="743665"/>
          </a:xfrm>
          <a:prstGeom prst="rect">
            <a:avLst/>
          </a:prstGeom>
          <a:noFill/>
        </p:spPr>
        <p:txBody>
          <a:bodyPr wrap="square">
            <a:spAutoFit/>
          </a:bodyPr>
          <a:lstStyle/>
          <a:p>
            <a:pPr>
              <a:lnSpc>
                <a:spcPct val="107000"/>
              </a:lnSpc>
              <a:spcAft>
                <a:spcPts val="326"/>
              </a:spcAft>
            </a:pP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Seleccione la sección Inicio y complete el formulario con la información solicitada.</a:t>
            </a:r>
            <a:b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b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Una vez terminado, presione </a:t>
            </a: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Guardar y continuar</a:t>
            </a: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t>
            </a:r>
          </a:p>
        </p:txBody>
      </p:sp>
      <p:grpSp>
        <p:nvGrpSpPr>
          <p:cNvPr id="2" name="Grupo 1">
            <a:extLst>
              <a:ext uri="{FF2B5EF4-FFF2-40B4-BE49-F238E27FC236}">
                <a16:creationId xmlns:a16="http://schemas.microsoft.com/office/drawing/2014/main" id="{CB949072-F9C2-49D7-8327-6B330282B410}"/>
              </a:ext>
            </a:extLst>
          </p:cNvPr>
          <p:cNvGrpSpPr/>
          <p:nvPr/>
        </p:nvGrpSpPr>
        <p:grpSpPr>
          <a:xfrm>
            <a:off x="3921312" y="1777206"/>
            <a:ext cx="2766000" cy="3898170"/>
            <a:chOff x="3921312" y="2179542"/>
            <a:chExt cx="2207304" cy="2707968"/>
          </a:xfrm>
          <a:effectLst/>
        </p:grpSpPr>
        <p:pic>
          <p:nvPicPr>
            <p:cNvPr id="43" name="Imagen 42">
              <a:extLst>
                <a:ext uri="{FF2B5EF4-FFF2-40B4-BE49-F238E27FC236}">
                  <a16:creationId xmlns:a16="http://schemas.microsoft.com/office/drawing/2014/main" id="{E008F47F-1348-46A8-998B-C2495BB424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1312" y="2179542"/>
              <a:ext cx="2207304" cy="1666299"/>
            </a:xfrm>
            <a:prstGeom prst="rect">
              <a:avLst/>
            </a:prstGeom>
            <a:effectLst>
              <a:outerShdw blurRad="50800" dist="38100" dir="2700000" algn="tl" rotWithShape="0">
                <a:prstClr val="black">
                  <a:alpha val="40000"/>
                </a:prstClr>
              </a:outerShdw>
            </a:effectLst>
          </p:spPr>
        </p:pic>
        <p:pic>
          <p:nvPicPr>
            <p:cNvPr id="45" name="Imagen 44">
              <a:extLst>
                <a:ext uri="{FF2B5EF4-FFF2-40B4-BE49-F238E27FC236}">
                  <a16:creationId xmlns:a16="http://schemas.microsoft.com/office/drawing/2014/main" id="{66EBE087-79C3-46C9-AC57-5F1C86AB40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21312" y="3840229"/>
              <a:ext cx="2207304" cy="1047281"/>
            </a:xfrm>
            <a:prstGeom prst="rect">
              <a:avLst/>
            </a:prstGeom>
            <a:effectLst>
              <a:outerShdw blurRad="50800" dist="38100" dir="2700000" algn="tl" rotWithShape="0">
                <a:prstClr val="black">
                  <a:alpha val="40000"/>
                </a:prstClr>
              </a:outerShdw>
            </a:effectLst>
          </p:spPr>
        </p:pic>
      </p:grpSp>
      <p:sp>
        <p:nvSpPr>
          <p:cNvPr id="46" name="CuadroTexto 45">
            <a:extLst>
              <a:ext uri="{FF2B5EF4-FFF2-40B4-BE49-F238E27FC236}">
                <a16:creationId xmlns:a16="http://schemas.microsoft.com/office/drawing/2014/main" id="{E27A90C0-91BE-4FB8-9CCA-C675685B7935}"/>
              </a:ext>
            </a:extLst>
          </p:cNvPr>
          <p:cNvSpPr txBox="1"/>
          <p:nvPr/>
        </p:nvSpPr>
        <p:spPr>
          <a:xfrm>
            <a:off x="1765172" y="1843994"/>
            <a:ext cx="1998999"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rPr>
              <a:t>Inicio (Datos básicos)</a:t>
            </a:r>
          </a:p>
        </p:txBody>
      </p:sp>
      <p:sp>
        <p:nvSpPr>
          <p:cNvPr id="48" name="Rectángulo 47">
            <a:extLst>
              <a:ext uri="{FF2B5EF4-FFF2-40B4-BE49-F238E27FC236}">
                <a16:creationId xmlns:a16="http://schemas.microsoft.com/office/drawing/2014/main" id="{0BA7DC02-38C5-4931-A445-9D597F5225CD}"/>
              </a:ext>
            </a:extLst>
          </p:cNvPr>
          <p:cNvSpPr/>
          <p:nvPr/>
        </p:nvSpPr>
        <p:spPr>
          <a:xfrm>
            <a:off x="1893078" y="2107472"/>
            <a:ext cx="818603"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49" name="Imagen 48">
            <a:extLst>
              <a:ext uri="{FF2B5EF4-FFF2-40B4-BE49-F238E27FC236}">
                <a16:creationId xmlns:a16="http://schemas.microsoft.com/office/drawing/2014/main" id="{A851AD7D-E390-42AF-B00B-EE3D15327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2427" y="6479554"/>
            <a:ext cx="197389" cy="197389"/>
          </a:xfrm>
          <a:prstGeom prst="rect">
            <a:avLst/>
          </a:prstGeom>
          <a:effectLst>
            <a:outerShdw blurRad="50800" dist="38100" dir="2700000" algn="tl" rotWithShape="0">
              <a:prstClr val="black">
                <a:alpha val="40000"/>
              </a:prstClr>
            </a:outerShdw>
          </a:effectLst>
        </p:spPr>
      </p:pic>
      <p:grpSp>
        <p:nvGrpSpPr>
          <p:cNvPr id="50" name="Grupo 49">
            <a:extLst>
              <a:ext uri="{FF2B5EF4-FFF2-40B4-BE49-F238E27FC236}">
                <a16:creationId xmlns:a16="http://schemas.microsoft.com/office/drawing/2014/main" id="{63345211-5A0A-4807-A5D3-29EDF2E13AC3}"/>
              </a:ext>
            </a:extLst>
          </p:cNvPr>
          <p:cNvGrpSpPr/>
          <p:nvPr/>
        </p:nvGrpSpPr>
        <p:grpSpPr>
          <a:xfrm>
            <a:off x="1502896" y="6610585"/>
            <a:ext cx="52355" cy="44425"/>
            <a:chOff x="6571128" y="2259106"/>
            <a:chExt cx="277906" cy="286869"/>
          </a:xfrm>
          <a:effectLst>
            <a:outerShdw blurRad="50800" dist="38100" dir="2700000" algn="tl" rotWithShape="0">
              <a:prstClr val="black">
                <a:alpha val="40000"/>
              </a:prstClr>
            </a:outerShdw>
          </a:effectLst>
        </p:grpSpPr>
        <p:sp>
          <p:nvSpPr>
            <p:cNvPr id="53" name="Diagrama de flujo: conector 52">
              <a:extLst>
                <a:ext uri="{FF2B5EF4-FFF2-40B4-BE49-F238E27FC236}">
                  <a16:creationId xmlns:a16="http://schemas.microsoft.com/office/drawing/2014/main" id="{809D8BA9-F00A-4FFE-89ED-28BF29D0C0ED}"/>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54" name="Diagrama de flujo: conector 53">
              <a:extLst>
                <a:ext uri="{FF2B5EF4-FFF2-40B4-BE49-F238E27FC236}">
                  <a16:creationId xmlns:a16="http://schemas.microsoft.com/office/drawing/2014/main" id="{9951B7F5-FE5A-490A-B986-2842977DFA3D}"/>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grpSp>
      <p:pic>
        <p:nvPicPr>
          <p:cNvPr id="55" name="Imagen 54">
            <a:extLst>
              <a:ext uri="{FF2B5EF4-FFF2-40B4-BE49-F238E27FC236}">
                <a16:creationId xmlns:a16="http://schemas.microsoft.com/office/drawing/2014/main" id="{1FD9B113-5A49-4458-991B-6CDFB3F526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35274" y="6478347"/>
            <a:ext cx="200422" cy="200422"/>
          </a:xfrm>
          <a:prstGeom prst="rect">
            <a:avLst/>
          </a:prstGeom>
          <a:effectLst>
            <a:outerShdw blurRad="50800" dist="38100" dir="2700000" algn="tl" rotWithShape="0">
              <a:prstClr val="black">
                <a:alpha val="40000"/>
              </a:prstClr>
            </a:outerShdw>
          </a:effectLst>
        </p:spPr>
      </p:pic>
      <p:sp>
        <p:nvSpPr>
          <p:cNvPr id="56" name="CuadroTexto 55">
            <a:extLst>
              <a:ext uri="{FF2B5EF4-FFF2-40B4-BE49-F238E27FC236}">
                <a16:creationId xmlns:a16="http://schemas.microsoft.com/office/drawing/2014/main" id="{DD1DF591-318A-406C-BE2E-6B0A0393A91D}"/>
              </a:ext>
            </a:extLst>
          </p:cNvPr>
          <p:cNvSpPr txBox="1"/>
          <p:nvPr/>
        </p:nvSpPr>
        <p:spPr>
          <a:xfrm>
            <a:off x="1838144" y="6742808"/>
            <a:ext cx="4198995" cy="414344"/>
          </a:xfrm>
          <a:prstGeom prst="rect">
            <a:avLst/>
          </a:prstGeom>
          <a:noFill/>
        </p:spPr>
        <p:txBody>
          <a:bodyPr wrap="square">
            <a:spAutoFit/>
          </a:bodyPr>
          <a:lstStyle/>
          <a:p>
            <a:pPr marL="139776" indent="-139776">
              <a:lnSpc>
                <a:spcPct val="107000"/>
              </a:lnSpc>
              <a:spcAft>
                <a:spcPts val="326"/>
              </a:spcAft>
              <a:buSzPts val="1000"/>
              <a:buFont typeface="Symbol" panose="05050102010706020507" pitchFamily="18" charset="2"/>
              <a:buChar char=""/>
              <a:tabLst>
                <a:tab pos="186368" algn="l"/>
              </a:tabLst>
            </a:pP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Se abrirá una nueva ventana para Cargar el/los archivos del envío: manuscrito, cartas de autoría, figuras, tablas, etc.</a:t>
            </a:r>
          </a:p>
        </p:txBody>
      </p:sp>
      <p:sp>
        <p:nvSpPr>
          <p:cNvPr id="57" name="CuadroTexto 56">
            <a:extLst>
              <a:ext uri="{FF2B5EF4-FFF2-40B4-BE49-F238E27FC236}">
                <a16:creationId xmlns:a16="http://schemas.microsoft.com/office/drawing/2014/main" id="{534AA007-65EE-41D7-9607-5E5743AAAE06}"/>
              </a:ext>
            </a:extLst>
          </p:cNvPr>
          <p:cNvSpPr txBox="1"/>
          <p:nvPr/>
        </p:nvSpPr>
        <p:spPr>
          <a:xfrm>
            <a:off x="1838145" y="7145912"/>
            <a:ext cx="3797004" cy="414344"/>
          </a:xfrm>
          <a:prstGeom prst="rect">
            <a:avLst/>
          </a:prstGeom>
          <a:noFill/>
        </p:spPr>
        <p:txBody>
          <a:bodyPr wrap="square">
            <a:spAutoFit/>
          </a:bodyPr>
          <a:lstStyle/>
          <a:p>
            <a:pPr marL="139776" indent="-139776">
              <a:lnSpc>
                <a:spcPct val="107000"/>
              </a:lnSpc>
              <a:spcAft>
                <a:spcPts val="326"/>
              </a:spcAft>
              <a:buSzPts val="1000"/>
              <a:buFont typeface="Symbol" panose="05050102010706020507" pitchFamily="18" charset="2"/>
              <a:buChar char=""/>
              <a:tabLst>
                <a:tab pos="186368" algn="l"/>
              </a:tabLst>
            </a:pP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Presione el botón </a:t>
            </a: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Añadir archivo</a:t>
            </a: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y localice en su equipo los documentos a subir.</a:t>
            </a:r>
          </a:p>
        </p:txBody>
      </p:sp>
      <p:pic>
        <p:nvPicPr>
          <p:cNvPr id="58" name="Imagen 57">
            <a:extLst>
              <a:ext uri="{FF2B5EF4-FFF2-40B4-BE49-F238E27FC236}">
                <a16:creationId xmlns:a16="http://schemas.microsoft.com/office/drawing/2014/main" id="{5C90EF9C-7249-4271-8DD9-C33E24A819BE}"/>
              </a:ext>
            </a:extLst>
          </p:cNvPr>
          <p:cNvPicPr/>
          <p:nvPr/>
        </p:nvPicPr>
        <p:blipFill>
          <a:blip r:embed="rId8"/>
          <a:stretch>
            <a:fillRect/>
          </a:stretch>
        </p:blipFill>
        <p:spPr>
          <a:xfrm>
            <a:off x="1569266" y="7573170"/>
            <a:ext cx="4328675" cy="1371592"/>
          </a:xfrm>
          <a:prstGeom prst="rect">
            <a:avLst/>
          </a:prstGeom>
          <a:effectLst/>
        </p:spPr>
      </p:pic>
      <p:sp>
        <p:nvSpPr>
          <p:cNvPr id="59" name="CuadroTexto 58">
            <a:extLst>
              <a:ext uri="{FF2B5EF4-FFF2-40B4-BE49-F238E27FC236}">
                <a16:creationId xmlns:a16="http://schemas.microsoft.com/office/drawing/2014/main" id="{955F88AD-4FAC-4392-A6BD-BE1C8906CA89}"/>
              </a:ext>
            </a:extLst>
          </p:cNvPr>
          <p:cNvSpPr txBox="1"/>
          <p:nvPr/>
        </p:nvSpPr>
        <p:spPr>
          <a:xfrm>
            <a:off x="1830836" y="6458678"/>
            <a:ext cx="1611624"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Carga de archivos</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61" name="Rectángulo 60">
            <a:extLst>
              <a:ext uri="{FF2B5EF4-FFF2-40B4-BE49-F238E27FC236}">
                <a16:creationId xmlns:a16="http://schemas.microsoft.com/office/drawing/2014/main" id="{820B61E1-4175-4961-ABEF-28A50C0944E1}"/>
              </a:ext>
            </a:extLst>
          </p:cNvPr>
          <p:cNvSpPr/>
          <p:nvPr/>
        </p:nvSpPr>
        <p:spPr>
          <a:xfrm>
            <a:off x="1958743" y="6722156"/>
            <a:ext cx="749169"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cxnSp>
        <p:nvCxnSpPr>
          <p:cNvPr id="62" name="Conector recto 61">
            <a:extLst>
              <a:ext uri="{FF2B5EF4-FFF2-40B4-BE49-F238E27FC236}">
                <a16:creationId xmlns:a16="http://schemas.microsoft.com/office/drawing/2014/main" id="{8E9125D1-070E-419B-87E5-606DE15FFF97}"/>
              </a:ext>
            </a:extLst>
          </p:cNvPr>
          <p:cNvCxnSpPr>
            <a:cxnSpLocks/>
          </p:cNvCxnSpPr>
          <p:nvPr/>
        </p:nvCxnSpPr>
        <p:spPr>
          <a:xfrm>
            <a:off x="1360715" y="6370331"/>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sp>
        <p:nvSpPr>
          <p:cNvPr id="63" name="Marco 62">
            <a:extLst>
              <a:ext uri="{FF2B5EF4-FFF2-40B4-BE49-F238E27FC236}">
                <a16:creationId xmlns:a16="http://schemas.microsoft.com/office/drawing/2014/main" id="{112BCE21-FA96-483D-9D3B-6EFFB9F497D9}"/>
              </a:ext>
            </a:extLst>
          </p:cNvPr>
          <p:cNvSpPr/>
          <p:nvPr/>
        </p:nvSpPr>
        <p:spPr>
          <a:xfrm>
            <a:off x="3892076" y="1762859"/>
            <a:ext cx="2795235" cy="3922403"/>
          </a:xfrm>
          <a:prstGeom prst="frame">
            <a:avLst>
              <a:gd name="adj1" fmla="val 1084"/>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4" name="Marco 63">
            <a:extLst>
              <a:ext uri="{FF2B5EF4-FFF2-40B4-BE49-F238E27FC236}">
                <a16:creationId xmlns:a16="http://schemas.microsoft.com/office/drawing/2014/main" id="{35405212-45B2-4689-A828-9DE0FF9B25BA}"/>
              </a:ext>
            </a:extLst>
          </p:cNvPr>
          <p:cNvSpPr/>
          <p:nvPr/>
        </p:nvSpPr>
        <p:spPr>
          <a:xfrm>
            <a:off x="1535274" y="7542812"/>
            <a:ext cx="4403963" cy="1431305"/>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65" name="Imagen 64">
            <a:extLst>
              <a:ext uri="{FF2B5EF4-FFF2-40B4-BE49-F238E27FC236}">
                <a16:creationId xmlns:a16="http://schemas.microsoft.com/office/drawing/2014/main" id="{94EEDCA6-B4A0-49DE-BBAE-5FB8432DEA1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965188">
            <a:off x="5418138" y="5203827"/>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67" name="Imagen 66">
            <a:extLst>
              <a:ext uri="{FF2B5EF4-FFF2-40B4-BE49-F238E27FC236}">
                <a16:creationId xmlns:a16="http://schemas.microsoft.com/office/drawing/2014/main" id="{3454D0A5-ABF6-44CF-A7C1-7C0C3882EA8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7956786">
            <a:off x="5614287" y="8086120"/>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2171048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Imagen 86">
            <a:extLst>
              <a:ext uri="{FF2B5EF4-FFF2-40B4-BE49-F238E27FC236}">
                <a16:creationId xmlns:a16="http://schemas.microsoft.com/office/drawing/2014/main" id="{7BD44745-BD95-4462-80AB-BCB9688D3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cxnSp>
        <p:nvCxnSpPr>
          <p:cNvPr id="83" name="Conector recto 82">
            <a:extLst>
              <a:ext uri="{FF2B5EF4-FFF2-40B4-BE49-F238E27FC236}">
                <a16:creationId xmlns:a16="http://schemas.microsoft.com/office/drawing/2014/main" id="{6A32F580-F0B5-48E8-9771-CF25CFA84BB0}"/>
              </a:ext>
            </a:extLst>
          </p:cNvPr>
          <p:cNvCxnSpPr>
            <a:cxnSpLocks/>
          </p:cNvCxnSpPr>
          <p:nvPr/>
        </p:nvCxnSpPr>
        <p:spPr>
          <a:xfrm>
            <a:off x="1331301" y="6047243"/>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sp>
        <p:nvSpPr>
          <p:cNvPr id="36" name="CuadroTexto 35">
            <a:extLst>
              <a:ext uri="{FF2B5EF4-FFF2-40B4-BE49-F238E27FC236}">
                <a16:creationId xmlns:a16="http://schemas.microsoft.com/office/drawing/2014/main" id="{5CBE3CCC-46F0-4278-8C41-2554C7DCD0E4}"/>
              </a:ext>
            </a:extLst>
          </p:cNvPr>
          <p:cNvSpPr txBox="1"/>
          <p:nvPr/>
        </p:nvSpPr>
        <p:spPr>
          <a:xfrm>
            <a:off x="1360715" y="841867"/>
            <a:ext cx="1874748" cy="743665"/>
          </a:xfrm>
          <a:prstGeom prst="rect">
            <a:avLst/>
          </a:prstGeom>
          <a:noFill/>
        </p:spPr>
        <p:txBody>
          <a:bodyPr wrap="square">
            <a:spAutoFit/>
          </a:bodyPr>
          <a:lstStyle/>
          <a:p>
            <a:pPr>
              <a:lnSpc>
                <a:spcPct val="107000"/>
              </a:lnSpc>
              <a:spcAft>
                <a:spcPts val="326"/>
              </a:spcAf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Una vez subido el archivo se mostrará de la siguiente forma y usted deberá indicar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Qué tipo de archivo es</a:t>
            </a:r>
            <a:r>
              <a:rPr lang="es-CU" sz="1000" dirty="0">
                <a:latin typeface="Calibri" panose="020F0502020204030204" pitchFamily="34" charset="0"/>
                <a:ea typeface="Calibri" panose="020F0502020204030204" pitchFamily="34" charset="0"/>
                <a:cs typeface="Times New Roman" panose="02020603050405020304" pitchFamily="18" charset="0"/>
              </a:rPr>
              <a:t>.</a:t>
            </a:r>
            <a:endParaRPr lang="es-ES" sz="10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7" name="Imagen 36">
            <a:extLst>
              <a:ext uri="{FF2B5EF4-FFF2-40B4-BE49-F238E27FC236}">
                <a16:creationId xmlns:a16="http://schemas.microsoft.com/office/drawing/2014/main" id="{42DE8B43-B033-42B1-A10D-8817FFA68F89}"/>
              </a:ext>
            </a:extLst>
          </p:cNvPr>
          <p:cNvPicPr/>
          <p:nvPr/>
        </p:nvPicPr>
        <p:blipFill>
          <a:blip r:embed="rId3"/>
          <a:stretch>
            <a:fillRect/>
          </a:stretch>
        </p:blipFill>
        <p:spPr>
          <a:xfrm>
            <a:off x="3209880" y="682164"/>
            <a:ext cx="3349416" cy="1019219"/>
          </a:xfrm>
          <a:prstGeom prst="rect">
            <a:avLst/>
          </a:prstGeom>
          <a:effectLst/>
        </p:spPr>
      </p:pic>
      <p:pic>
        <p:nvPicPr>
          <p:cNvPr id="44" name="Imagen 43">
            <a:extLst>
              <a:ext uri="{FF2B5EF4-FFF2-40B4-BE49-F238E27FC236}">
                <a16:creationId xmlns:a16="http://schemas.microsoft.com/office/drawing/2014/main" id="{8F66063D-5F09-4A76-9A60-861CF3106FE0}"/>
              </a:ext>
            </a:extLst>
          </p:cNvPr>
          <p:cNvPicPr/>
          <p:nvPr/>
        </p:nvPicPr>
        <p:blipFill>
          <a:blip r:embed="rId4"/>
          <a:stretch>
            <a:fillRect/>
          </a:stretch>
        </p:blipFill>
        <p:spPr>
          <a:xfrm>
            <a:off x="3209880" y="1890368"/>
            <a:ext cx="3349416" cy="1937920"/>
          </a:xfrm>
          <a:prstGeom prst="rect">
            <a:avLst/>
          </a:prstGeom>
          <a:effectLst/>
        </p:spPr>
      </p:pic>
      <p:sp>
        <p:nvSpPr>
          <p:cNvPr id="51" name="CuadroTexto 50">
            <a:extLst>
              <a:ext uri="{FF2B5EF4-FFF2-40B4-BE49-F238E27FC236}">
                <a16:creationId xmlns:a16="http://schemas.microsoft.com/office/drawing/2014/main" id="{52E45ECD-6D1F-44D4-B19B-E628FB76844A}"/>
              </a:ext>
            </a:extLst>
          </p:cNvPr>
          <p:cNvSpPr txBox="1"/>
          <p:nvPr/>
        </p:nvSpPr>
        <p:spPr>
          <a:xfrm>
            <a:off x="1322427" y="2446474"/>
            <a:ext cx="1874748" cy="1169551"/>
          </a:xfrm>
          <a:prstGeom prst="rect">
            <a:avLst/>
          </a:prstGeom>
          <a:noFill/>
        </p:spPr>
        <p:txBody>
          <a:bodyPr wrap="square">
            <a:spAutoFit/>
          </a:bodyPr>
          <a:lstStyle/>
          <a:p>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Puede seleccionar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Texto del artículo</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o la opción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Otro</a:t>
            </a:r>
            <a:r>
              <a:rPr lang="es-CU" sz="1000" dirty="0">
                <a:latin typeface="Calibri" panose="020F0502020204030204" pitchFamily="34" charset="0"/>
                <a:ea typeface="Calibri" panose="020F0502020204030204" pitchFamily="34" charset="0"/>
                <a:cs typeface="Times New Roman" panose="02020603050405020304" pitchFamily="18" charset="0"/>
              </a:rPr>
              <a:t>, </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 tal caso le aparecerá una ventana para que seleccione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Qué tipo de archivo es</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como se muestra en la imagen siguiente y al finalizar presione el botón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Guardar</a:t>
            </a:r>
            <a:r>
              <a:rPr lang="es-CU" sz="1000" dirty="0">
                <a:latin typeface="Calibri" panose="020F0502020204030204" pitchFamily="34" charset="0"/>
                <a:ea typeface="Calibri" panose="020F0502020204030204" pitchFamily="34" charset="0"/>
                <a:cs typeface="Times New Roman" panose="02020603050405020304" pitchFamily="18" charset="0"/>
              </a:rPr>
              <a:t>.</a:t>
            </a:r>
            <a:endParaRPr lang="es-ES" sz="1000" dirty="0"/>
          </a:p>
        </p:txBody>
      </p:sp>
      <p:pic>
        <p:nvPicPr>
          <p:cNvPr id="64" name="Imagen 63">
            <a:extLst>
              <a:ext uri="{FF2B5EF4-FFF2-40B4-BE49-F238E27FC236}">
                <a16:creationId xmlns:a16="http://schemas.microsoft.com/office/drawing/2014/main" id="{347B476D-3FC8-4BFD-B87D-C5C4E9A93E38}"/>
              </a:ext>
            </a:extLst>
          </p:cNvPr>
          <p:cNvPicPr/>
          <p:nvPr/>
        </p:nvPicPr>
        <p:blipFill>
          <a:blip r:embed="rId5"/>
          <a:stretch>
            <a:fillRect/>
          </a:stretch>
        </p:blipFill>
        <p:spPr>
          <a:xfrm>
            <a:off x="3197175" y="4106240"/>
            <a:ext cx="3349416" cy="1276526"/>
          </a:xfrm>
          <a:prstGeom prst="rect">
            <a:avLst/>
          </a:prstGeom>
          <a:effectLst/>
        </p:spPr>
      </p:pic>
      <p:sp>
        <p:nvSpPr>
          <p:cNvPr id="65" name="CuadroTexto 64">
            <a:extLst>
              <a:ext uri="{FF2B5EF4-FFF2-40B4-BE49-F238E27FC236}">
                <a16:creationId xmlns:a16="http://schemas.microsoft.com/office/drawing/2014/main" id="{371C5462-5DE6-4500-910E-40ACFA532016}"/>
              </a:ext>
            </a:extLst>
          </p:cNvPr>
          <p:cNvSpPr txBox="1"/>
          <p:nvPr/>
        </p:nvSpPr>
        <p:spPr>
          <a:xfrm>
            <a:off x="1360715" y="4184993"/>
            <a:ext cx="1930059" cy="1072986"/>
          </a:xfrm>
          <a:prstGeom prst="rect">
            <a:avLst/>
          </a:prstGeom>
          <a:noFill/>
        </p:spPr>
        <p:txBody>
          <a:bodyPr wrap="square">
            <a:spAutoFit/>
          </a:bodyPr>
          <a:lstStyle/>
          <a:p>
            <a:pPr>
              <a:lnSpc>
                <a:spcPct val="107000"/>
              </a:lnSpc>
              <a:spcAft>
                <a:spcPts val="326"/>
              </a:spcAf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Una vez seleccionado aparecerá una ventana con la información cargada y solo es necesario presionar el botón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Guardar y continuar</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para seguir con el envío.</a:t>
            </a:r>
            <a:endPar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7" name="Imagen 66">
            <a:extLst>
              <a:ext uri="{FF2B5EF4-FFF2-40B4-BE49-F238E27FC236}">
                <a16:creationId xmlns:a16="http://schemas.microsoft.com/office/drawing/2014/main" id="{145E1EF8-5876-408C-9297-DD188F020D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0417" y="6191968"/>
            <a:ext cx="197389" cy="197389"/>
          </a:xfrm>
          <a:prstGeom prst="rect">
            <a:avLst/>
          </a:prstGeom>
          <a:effectLst>
            <a:outerShdw blurRad="50800" dist="38100" dir="2700000" algn="tl" rotWithShape="0">
              <a:prstClr val="black">
                <a:alpha val="40000"/>
              </a:prstClr>
            </a:outerShdw>
          </a:effectLst>
        </p:spPr>
      </p:pic>
      <p:grpSp>
        <p:nvGrpSpPr>
          <p:cNvPr id="68" name="Grupo 67">
            <a:extLst>
              <a:ext uri="{FF2B5EF4-FFF2-40B4-BE49-F238E27FC236}">
                <a16:creationId xmlns:a16="http://schemas.microsoft.com/office/drawing/2014/main" id="{283901BD-DFB9-4ED2-AE3A-DC80D2ABDAAB}"/>
              </a:ext>
            </a:extLst>
          </p:cNvPr>
          <p:cNvGrpSpPr/>
          <p:nvPr/>
        </p:nvGrpSpPr>
        <p:grpSpPr>
          <a:xfrm>
            <a:off x="1440886" y="6322999"/>
            <a:ext cx="52355" cy="44425"/>
            <a:chOff x="6571128" y="2259106"/>
            <a:chExt cx="277906" cy="286869"/>
          </a:xfrm>
          <a:effectLst>
            <a:outerShdw blurRad="50800" dist="38100" dir="2700000" algn="tl" rotWithShape="0">
              <a:prstClr val="black">
                <a:alpha val="40000"/>
              </a:prstClr>
            </a:outerShdw>
          </a:effectLst>
        </p:grpSpPr>
        <p:sp>
          <p:nvSpPr>
            <p:cNvPr id="69" name="Diagrama de flujo: conector 68">
              <a:extLst>
                <a:ext uri="{FF2B5EF4-FFF2-40B4-BE49-F238E27FC236}">
                  <a16:creationId xmlns:a16="http://schemas.microsoft.com/office/drawing/2014/main" id="{6532B14F-80F6-4FAB-9FA5-C85AF62E4530}"/>
                </a:ext>
              </a:extLst>
            </p:cNvPr>
            <p:cNvSpPr/>
            <p:nvPr/>
          </p:nvSpPr>
          <p:spPr>
            <a:xfrm>
              <a:off x="6571128" y="2259106"/>
              <a:ext cx="277906" cy="286869"/>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70" name="Diagrama de flujo: conector 69">
              <a:extLst>
                <a:ext uri="{FF2B5EF4-FFF2-40B4-BE49-F238E27FC236}">
                  <a16:creationId xmlns:a16="http://schemas.microsoft.com/office/drawing/2014/main" id="{FBA98073-D68E-4789-96CD-F702F1851985}"/>
                </a:ext>
              </a:extLst>
            </p:cNvPr>
            <p:cNvSpPr/>
            <p:nvPr/>
          </p:nvSpPr>
          <p:spPr>
            <a:xfrm>
              <a:off x="6638363" y="2312891"/>
              <a:ext cx="143435" cy="179295"/>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grpSp>
      <p:pic>
        <p:nvPicPr>
          <p:cNvPr id="71" name="Imagen 70">
            <a:extLst>
              <a:ext uri="{FF2B5EF4-FFF2-40B4-BE49-F238E27FC236}">
                <a16:creationId xmlns:a16="http://schemas.microsoft.com/office/drawing/2014/main" id="{AB272FD6-3706-46DE-898E-F18CB112CA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8563" y="6191593"/>
            <a:ext cx="197389" cy="197389"/>
          </a:xfrm>
          <a:prstGeom prst="rect">
            <a:avLst/>
          </a:prstGeom>
          <a:effectLst>
            <a:outerShdw blurRad="50800" dist="38100" dir="2700000" algn="tl" rotWithShape="0">
              <a:prstClr val="black">
                <a:alpha val="40000"/>
              </a:prstClr>
            </a:outerShdw>
          </a:effectLst>
        </p:spPr>
      </p:pic>
      <p:sp>
        <p:nvSpPr>
          <p:cNvPr id="72" name="CuadroTexto 71">
            <a:extLst>
              <a:ext uri="{FF2B5EF4-FFF2-40B4-BE49-F238E27FC236}">
                <a16:creationId xmlns:a16="http://schemas.microsoft.com/office/drawing/2014/main" id="{A72F31CA-3449-48FE-B190-9B28C794BC5E}"/>
              </a:ext>
            </a:extLst>
          </p:cNvPr>
          <p:cNvSpPr txBox="1"/>
          <p:nvPr/>
        </p:nvSpPr>
        <p:spPr>
          <a:xfrm>
            <a:off x="1776136" y="6506473"/>
            <a:ext cx="3818941" cy="246221"/>
          </a:xfrm>
          <a:prstGeom prst="rect">
            <a:avLst/>
          </a:prstGeom>
          <a:noFill/>
        </p:spPr>
        <p:txBody>
          <a:bodyPr wrap="square">
            <a:spAutoFit/>
          </a:bodyPr>
          <a:lstStyle/>
          <a:p>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 esta ventana debe ingresar la información descriptiva del trabajo</a:t>
            </a:r>
            <a:endParaRPr lang="es-ES" sz="1000" b="1" dirty="0">
              <a:solidFill>
                <a:schemeClr val="tx1">
                  <a:lumMod val="65000"/>
                  <a:lumOff val="35000"/>
                </a:schemeClr>
              </a:solidFill>
            </a:endParaRPr>
          </a:p>
        </p:txBody>
      </p:sp>
      <p:pic>
        <p:nvPicPr>
          <p:cNvPr id="73" name="Imagen 72">
            <a:extLst>
              <a:ext uri="{FF2B5EF4-FFF2-40B4-BE49-F238E27FC236}">
                <a16:creationId xmlns:a16="http://schemas.microsoft.com/office/drawing/2014/main" id="{C38E757A-7D8D-41B3-950D-B581A9BF4A05}"/>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21645"/>
          <a:stretch/>
        </p:blipFill>
        <p:spPr bwMode="auto">
          <a:xfrm>
            <a:off x="1827298" y="7546369"/>
            <a:ext cx="4110205" cy="1652494"/>
          </a:xfrm>
          <a:prstGeom prst="rect">
            <a:avLst/>
          </a:prstGeom>
          <a:ln>
            <a:noFill/>
          </a:ln>
          <a:effectLst/>
          <a:extLst>
            <a:ext uri="{53640926-AAD7-44D8-BBD7-CCE9431645EC}">
              <a14:shadowObscured xmlns:a14="http://schemas.microsoft.com/office/drawing/2010/main"/>
            </a:ext>
          </a:extLst>
        </p:spPr>
      </p:pic>
      <p:sp>
        <p:nvSpPr>
          <p:cNvPr id="74" name="CuadroTexto 73">
            <a:extLst>
              <a:ext uri="{FF2B5EF4-FFF2-40B4-BE49-F238E27FC236}">
                <a16:creationId xmlns:a16="http://schemas.microsoft.com/office/drawing/2014/main" id="{6EF36EF2-78E6-4165-A43F-B99B4DC88545}"/>
              </a:ext>
            </a:extLst>
          </p:cNvPr>
          <p:cNvSpPr txBox="1"/>
          <p:nvPr/>
        </p:nvSpPr>
        <p:spPr>
          <a:xfrm>
            <a:off x="1776136" y="6769846"/>
            <a:ext cx="4966040" cy="782137"/>
          </a:xfrm>
          <a:prstGeom prst="rect">
            <a:avLst/>
          </a:prstGeom>
          <a:noFill/>
        </p:spPr>
        <p:txBody>
          <a:bodyPr wrap="square">
            <a:spAutoFit/>
          </a:bodyPr>
          <a:lstStyle/>
          <a:p>
            <a:pPr marL="139776" indent="-139776">
              <a:lnSpc>
                <a:spcPct val="107000"/>
              </a:lnSpc>
              <a:spcAft>
                <a:spcPts val="326"/>
              </a:spcAft>
              <a:buSzPts val="1000"/>
              <a:buFont typeface="Symbol" panose="05050102010706020507" pitchFamily="18" charset="2"/>
              <a:buChar char=""/>
              <a:tabLst>
                <a:tab pos="186368" algn="l"/>
              </a:tabLst>
            </a:pP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Idiomas</a:t>
            </a:r>
            <a:r>
              <a:rPr lang="es-ES"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complete todos los metadatos tanto en el idioma original del artículo como en el segundo idioma de la revista (presione el botón correspondiente para alternar).</a:t>
            </a:r>
          </a:p>
          <a:p>
            <a:pPr marL="139776" indent="-139776">
              <a:lnSpc>
                <a:spcPct val="107000"/>
              </a:lnSpc>
              <a:spcAft>
                <a:spcPts val="326"/>
              </a:spcAft>
              <a:buSzPts val="1000"/>
              <a:buFont typeface="Symbol" panose="05050102010706020507" pitchFamily="18" charset="2"/>
              <a:buChar char=""/>
              <a:tabLst>
                <a:tab pos="186368" algn="l"/>
              </a:tabLst>
            </a:pP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Título y resumen</a:t>
            </a:r>
            <a:r>
              <a:rPr lang="es-ES"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escriba el título completo y un resumen estructurado (objetivos, métodos, resultados, conclusiones).</a:t>
            </a:r>
          </a:p>
        </p:txBody>
      </p:sp>
      <p:sp>
        <p:nvSpPr>
          <p:cNvPr id="75" name="CuadroTexto 74">
            <a:extLst>
              <a:ext uri="{FF2B5EF4-FFF2-40B4-BE49-F238E27FC236}">
                <a16:creationId xmlns:a16="http://schemas.microsoft.com/office/drawing/2014/main" id="{85E8A31E-E8B5-44E6-B658-0F85BB74B9AC}"/>
              </a:ext>
            </a:extLst>
          </p:cNvPr>
          <p:cNvSpPr txBox="1"/>
          <p:nvPr/>
        </p:nvSpPr>
        <p:spPr>
          <a:xfrm>
            <a:off x="1768827" y="6171092"/>
            <a:ext cx="1951491"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Metadatos del artículo</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77" name="Rectángulo 76">
            <a:extLst>
              <a:ext uri="{FF2B5EF4-FFF2-40B4-BE49-F238E27FC236}">
                <a16:creationId xmlns:a16="http://schemas.microsoft.com/office/drawing/2014/main" id="{538D076F-D08C-455A-BC91-1F32F6AA3FCE}"/>
              </a:ext>
            </a:extLst>
          </p:cNvPr>
          <p:cNvSpPr/>
          <p:nvPr/>
        </p:nvSpPr>
        <p:spPr>
          <a:xfrm>
            <a:off x="1896734" y="6434570"/>
            <a:ext cx="584717"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78" name="Marco 77">
            <a:extLst>
              <a:ext uri="{FF2B5EF4-FFF2-40B4-BE49-F238E27FC236}">
                <a16:creationId xmlns:a16="http://schemas.microsoft.com/office/drawing/2014/main" id="{C7A43896-BBBF-4C12-B033-C8C18CD3F29A}"/>
              </a:ext>
            </a:extLst>
          </p:cNvPr>
          <p:cNvSpPr/>
          <p:nvPr/>
        </p:nvSpPr>
        <p:spPr>
          <a:xfrm>
            <a:off x="3197174" y="656897"/>
            <a:ext cx="3362121" cy="1044486"/>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79" name="Marco 78">
            <a:extLst>
              <a:ext uri="{FF2B5EF4-FFF2-40B4-BE49-F238E27FC236}">
                <a16:creationId xmlns:a16="http://schemas.microsoft.com/office/drawing/2014/main" id="{DA36BC38-43FE-453C-AAFD-6296F1AD1B50}"/>
              </a:ext>
            </a:extLst>
          </p:cNvPr>
          <p:cNvSpPr/>
          <p:nvPr/>
        </p:nvSpPr>
        <p:spPr>
          <a:xfrm>
            <a:off x="3197174" y="1877506"/>
            <a:ext cx="3374827" cy="1967934"/>
          </a:xfrm>
          <a:prstGeom prst="frame">
            <a:avLst>
              <a:gd name="adj1" fmla="val 1372"/>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80" name="Marco 79">
            <a:extLst>
              <a:ext uri="{FF2B5EF4-FFF2-40B4-BE49-F238E27FC236}">
                <a16:creationId xmlns:a16="http://schemas.microsoft.com/office/drawing/2014/main" id="{81ED948B-D712-4E70-979A-F8B668434212}"/>
              </a:ext>
            </a:extLst>
          </p:cNvPr>
          <p:cNvSpPr/>
          <p:nvPr/>
        </p:nvSpPr>
        <p:spPr>
          <a:xfrm>
            <a:off x="3197174" y="4073867"/>
            <a:ext cx="3374827" cy="1330305"/>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81" name="Marco 80">
            <a:extLst>
              <a:ext uri="{FF2B5EF4-FFF2-40B4-BE49-F238E27FC236}">
                <a16:creationId xmlns:a16="http://schemas.microsoft.com/office/drawing/2014/main" id="{BD916E61-4EC9-4F74-B106-9BC6D99D0B53}"/>
              </a:ext>
            </a:extLst>
          </p:cNvPr>
          <p:cNvSpPr/>
          <p:nvPr/>
        </p:nvSpPr>
        <p:spPr>
          <a:xfrm>
            <a:off x="1794423" y="7518428"/>
            <a:ext cx="4161367" cy="1723107"/>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82" name="Imagen 81">
            <a:extLst>
              <a:ext uri="{FF2B5EF4-FFF2-40B4-BE49-F238E27FC236}">
                <a16:creationId xmlns:a16="http://schemas.microsoft.com/office/drawing/2014/main" id="{A0E42C7A-10CD-4C4C-8857-8F169C1DA6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8606930">
            <a:off x="4076990" y="1330961"/>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84" name="Imagen 83">
            <a:extLst>
              <a:ext uri="{FF2B5EF4-FFF2-40B4-BE49-F238E27FC236}">
                <a16:creationId xmlns:a16="http://schemas.microsoft.com/office/drawing/2014/main" id="{D5FCD1D5-5C1C-44C0-BC94-9A44F7F91DD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8088083">
            <a:off x="5609974" y="3233702"/>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85" name="Imagen 84">
            <a:extLst>
              <a:ext uri="{FF2B5EF4-FFF2-40B4-BE49-F238E27FC236}">
                <a16:creationId xmlns:a16="http://schemas.microsoft.com/office/drawing/2014/main" id="{51918D3E-BF1F-453A-A370-D12E4CA546B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200000">
            <a:off x="5027772" y="4919852"/>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86" name="Imagen 85">
            <a:extLst>
              <a:ext uri="{FF2B5EF4-FFF2-40B4-BE49-F238E27FC236}">
                <a16:creationId xmlns:a16="http://schemas.microsoft.com/office/drawing/2014/main" id="{FA80E6EE-3168-45DD-80CB-81B6BCD3D70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3487570">
            <a:off x="5703686" y="7828981"/>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1428091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95C6FD14-157C-4AE1-964A-F79B8BBA6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sp>
        <p:nvSpPr>
          <p:cNvPr id="24" name="CuadroTexto 23">
            <a:extLst>
              <a:ext uri="{FF2B5EF4-FFF2-40B4-BE49-F238E27FC236}">
                <a16:creationId xmlns:a16="http://schemas.microsoft.com/office/drawing/2014/main" id="{6C83BBDB-940F-4B62-9DFF-685B85699A5F}"/>
              </a:ext>
            </a:extLst>
          </p:cNvPr>
          <p:cNvSpPr txBox="1"/>
          <p:nvPr/>
        </p:nvSpPr>
        <p:spPr>
          <a:xfrm>
            <a:off x="1360715" y="669533"/>
            <a:ext cx="5185876" cy="908326"/>
          </a:xfrm>
          <a:prstGeom prst="rect">
            <a:avLst/>
          </a:prstGeom>
          <a:noFill/>
        </p:spPr>
        <p:txBody>
          <a:bodyPr wrap="square">
            <a:spAutoFit/>
          </a:bodyPr>
          <a:lstStyle/>
          <a:p>
            <a:pPr algn="just">
              <a:lnSpc>
                <a:spcPct val="107000"/>
              </a:lnSpc>
              <a:spcAft>
                <a:spcPts val="326"/>
              </a:spcAf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 el apartado de Autores y colaboraciones, por defecto aparecerá su usuario como autor, en caso que sean más autores, usted deberá ir agregándolos uno por uno en el orden correspondiente. Deberá seleccionar cuál de ellos es el autor de correspondencia. Igualmente agregará aquellos traductores que participaron en el artículo si fuera el caso. Las siguientes imágenes corresponden con este proceso.</a:t>
            </a:r>
            <a:endPar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25" name="Imagen 24">
            <a:extLst>
              <a:ext uri="{FF2B5EF4-FFF2-40B4-BE49-F238E27FC236}">
                <a16:creationId xmlns:a16="http://schemas.microsoft.com/office/drawing/2014/main" id="{D84E0786-3698-4176-B3AD-BCB5B45EC942}"/>
              </a:ext>
            </a:extLst>
          </p:cNvPr>
          <p:cNvPicPr/>
          <p:nvPr/>
        </p:nvPicPr>
        <p:blipFill>
          <a:blip r:embed="rId3">
            <a:extLst>
              <a:ext uri="{28A0092B-C50C-407E-A947-70E740481C1C}">
                <a14:useLocalDpi xmlns:a14="http://schemas.microsoft.com/office/drawing/2010/main" val="0"/>
              </a:ext>
            </a:extLst>
          </a:blip>
          <a:stretch>
            <a:fillRect/>
          </a:stretch>
        </p:blipFill>
        <p:spPr>
          <a:xfrm>
            <a:off x="2063070" y="1646764"/>
            <a:ext cx="4364054" cy="1826398"/>
          </a:xfrm>
          <a:prstGeom prst="rect">
            <a:avLst/>
          </a:prstGeom>
          <a:effectLst/>
        </p:spPr>
      </p:pic>
      <p:sp>
        <p:nvSpPr>
          <p:cNvPr id="27" name="CuadroTexto 26">
            <a:extLst>
              <a:ext uri="{FF2B5EF4-FFF2-40B4-BE49-F238E27FC236}">
                <a16:creationId xmlns:a16="http://schemas.microsoft.com/office/drawing/2014/main" id="{8851BCCE-5DC8-476B-A4E7-415D860954E5}"/>
              </a:ext>
            </a:extLst>
          </p:cNvPr>
          <p:cNvSpPr txBox="1"/>
          <p:nvPr/>
        </p:nvSpPr>
        <p:spPr>
          <a:xfrm>
            <a:off x="1360715" y="3905386"/>
            <a:ext cx="2372400" cy="1072986"/>
          </a:xfrm>
          <a:prstGeom prst="rect">
            <a:avLst/>
          </a:prstGeom>
          <a:noFill/>
        </p:spPr>
        <p:txBody>
          <a:bodyPr wrap="square">
            <a:spAutoFit/>
          </a:bodyPr>
          <a:lstStyle/>
          <a:p>
            <a:pPr>
              <a:lnSpc>
                <a:spcPct val="107000"/>
              </a:lnSpc>
              <a:spcAft>
                <a:spcPts val="326"/>
              </a:spcAft>
              <a:tabLst>
                <a:tab pos="368076" algn="l"/>
              </a:tabLs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Al presionar el botón Añadir Colaborador/a, aparecerá una ventana para llenar los datos, note que existen datos obligatorios </a:t>
            </a:r>
            <a:r>
              <a:rPr lang="es-CU"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t>
            </a:r>
            <a:r>
              <a:rPr lang="es-CU" sz="1000" b="1" dirty="0">
                <a:solidFill>
                  <a:srgbClr val="FF0066"/>
                </a:solidFill>
                <a:latin typeface="Calibri" panose="020F0502020204030204" pitchFamily="34" charset="0"/>
                <a:ea typeface="Calibri" panose="020F0502020204030204" pitchFamily="34" charset="0"/>
                <a:cs typeface="Times New Roman" panose="02020603050405020304" pitchFamily="18" charset="0"/>
              </a:rPr>
              <a:t>*</a:t>
            </a:r>
            <a:r>
              <a:rPr lang="es-CU"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y formatos a respetar válidos como el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email</a:t>
            </a:r>
            <a:r>
              <a:rPr lang="es-CU"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y el Identificador de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ORCID</a:t>
            </a:r>
            <a:r>
              <a:rPr lang="es-CU" sz="1000" dirty="0">
                <a:latin typeface="Calibri" panose="020F0502020204030204" pitchFamily="34" charset="0"/>
                <a:ea typeface="Calibri" panose="020F0502020204030204" pitchFamily="34" charset="0"/>
                <a:cs typeface="Times New Roman" panose="02020603050405020304" pitchFamily="18" charset="0"/>
              </a:rPr>
              <a:t>.</a:t>
            </a:r>
            <a:endParaRPr lang="es-ES" sz="10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2" name="Grupo 1">
            <a:extLst>
              <a:ext uri="{FF2B5EF4-FFF2-40B4-BE49-F238E27FC236}">
                <a16:creationId xmlns:a16="http://schemas.microsoft.com/office/drawing/2014/main" id="{1F1976A3-0FB0-4005-AABC-4E71425D44A3}"/>
              </a:ext>
            </a:extLst>
          </p:cNvPr>
          <p:cNvGrpSpPr/>
          <p:nvPr/>
        </p:nvGrpSpPr>
        <p:grpSpPr>
          <a:xfrm>
            <a:off x="3845761" y="3733062"/>
            <a:ext cx="2581364" cy="4697706"/>
            <a:chOff x="4136865" y="3733062"/>
            <a:chExt cx="1855447" cy="2749264"/>
          </a:xfrm>
        </p:grpSpPr>
        <p:pic>
          <p:nvPicPr>
            <p:cNvPr id="28" name="Imagen 27">
              <a:extLst>
                <a:ext uri="{FF2B5EF4-FFF2-40B4-BE49-F238E27FC236}">
                  <a16:creationId xmlns:a16="http://schemas.microsoft.com/office/drawing/2014/main" id="{BB4225F1-A243-44AE-B558-43CBBB7458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36865" y="3733062"/>
              <a:ext cx="1855447" cy="1425693"/>
            </a:xfrm>
            <a:prstGeom prst="rect">
              <a:avLst/>
            </a:prstGeom>
            <a:effectLst>
              <a:outerShdw blurRad="50800" dist="38100" dir="2700000" algn="tl" rotWithShape="0">
                <a:prstClr val="black">
                  <a:alpha val="40000"/>
                </a:prstClr>
              </a:outerShdw>
            </a:effectLst>
          </p:spPr>
        </p:pic>
        <p:pic>
          <p:nvPicPr>
            <p:cNvPr id="29" name="Imagen 28">
              <a:extLst>
                <a:ext uri="{FF2B5EF4-FFF2-40B4-BE49-F238E27FC236}">
                  <a16:creationId xmlns:a16="http://schemas.microsoft.com/office/drawing/2014/main" id="{6D3106BA-FC2C-4D1F-A51B-086A88AFBC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36865" y="5167142"/>
              <a:ext cx="1855447" cy="1315184"/>
            </a:xfrm>
            <a:prstGeom prst="rect">
              <a:avLst/>
            </a:prstGeom>
            <a:effectLst>
              <a:outerShdw blurRad="50800" dist="38100" dir="2700000" algn="tl" rotWithShape="0">
                <a:prstClr val="black">
                  <a:alpha val="40000"/>
                </a:prstClr>
              </a:outerShdw>
            </a:effectLst>
          </p:spPr>
        </p:pic>
      </p:grpSp>
      <p:sp>
        <p:nvSpPr>
          <p:cNvPr id="30" name="CuadroTexto 29">
            <a:extLst>
              <a:ext uri="{FF2B5EF4-FFF2-40B4-BE49-F238E27FC236}">
                <a16:creationId xmlns:a16="http://schemas.microsoft.com/office/drawing/2014/main" id="{D9EFF3D1-7CA2-4FEF-83AB-BAC9183F172B}"/>
              </a:ext>
            </a:extLst>
          </p:cNvPr>
          <p:cNvSpPr txBox="1"/>
          <p:nvPr/>
        </p:nvSpPr>
        <p:spPr>
          <a:xfrm>
            <a:off x="1360715" y="7032454"/>
            <a:ext cx="2485045" cy="1072986"/>
          </a:xfrm>
          <a:prstGeom prst="rect">
            <a:avLst/>
          </a:prstGeom>
          <a:noFill/>
        </p:spPr>
        <p:txBody>
          <a:bodyPr wrap="square">
            <a:spAutoFit/>
          </a:bodyPr>
          <a:lstStyle/>
          <a:p>
            <a:pPr>
              <a:lnSpc>
                <a:spcPct val="107000"/>
              </a:lnSpc>
              <a:spcAft>
                <a:spcPts val="326"/>
              </a:spcAft>
              <a:tabLst>
                <a:tab pos="1570926" algn="l"/>
              </a:tabLs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Identifique cada colaborador con el rol de autor o traductor según sea el caso e identifique qué autor es el principal para correspondencia durante el proceso editorial. Al finalizar presiones el botón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Guardar</a:t>
            </a:r>
            <a:r>
              <a:rPr lang="es-CU"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endParaRPr lang="es-ES" sz="1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3" name="Marco 32">
            <a:extLst>
              <a:ext uri="{FF2B5EF4-FFF2-40B4-BE49-F238E27FC236}">
                <a16:creationId xmlns:a16="http://schemas.microsoft.com/office/drawing/2014/main" id="{27222F56-66AF-4977-B1B1-5244AD923ECB}"/>
              </a:ext>
            </a:extLst>
          </p:cNvPr>
          <p:cNvSpPr/>
          <p:nvPr/>
        </p:nvSpPr>
        <p:spPr>
          <a:xfrm>
            <a:off x="2053238" y="1592189"/>
            <a:ext cx="4373886" cy="1944577"/>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4" name="Marco 33">
            <a:extLst>
              <a:ext uri="{FF2B5EF4-FFF2-40B4-BE49-F238E27FC236}">
                <a16:creationId xmlns:a16="http://schemas.microsoft.com/office/drawing/2014/main" id="{73076EBB-BC9A-4AC5-93F3-50C80E77B3ED}"/>
              </a:ext>
            </a:extLst>
          </p:cNvPr>
          <p:cNvSpPr/>
          <p:nvPr/>
        </p:nvSpPr>
        <p:spPr>
          <a:xfrm>
            <a:off x="3822192" y="3705340"/>
            <a:ext cx="2635412" cy="4725428"/>
          </a:xfrm>
          <a:prstGeom prst="frame">
            <a:avLst>
              <a:gd name="adj1" fmla="val 958"/>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35" name="Imagen 34">
            <a:extLst>
              <a:ext uri="{FF2B5EF4-FFF2-40B4-BE49-F238E27FC236}">
                <a16:creationId xmlns:a16="http://schemas.microsoft.com/office/drawing/2014/main" id="{8E14BBAF-3507-494E-A526-AFE04CB854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8088083">
            <a:off x="4999873" y="2353750"/>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38" name="Imagen 37">
            <a:extLst>
              <a:ext uri="{FF2B5EF4-FFF2-40B4-BE49-F238E27FC236}">
                <a16:creationId xmlns:a16="http://schemas.microsoft.com/office/drawing/2014/main" id="{071F9BF8-6E38-4C4A-AFE4-EF87CBB320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8088083">
            <a:off x="5312833" y="7844421"/>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1242322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Imagen 35">
            <a:extLst>
              <a:ext uri="{FF2B5EF4-FFF2-40B4-BE49-F238E27FC236}">
                <a16:creationId xmlns:a16="http://schemas.microsoft.com/office/drawing/2014/main" id="{655EF4C7-39A9-4630-B4E4-B62F27D19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sp>
        <p:nvSpPr>
          <p:cNvPr id="12" name="CuadroTexto 11">
            <a:extLst>
              <a:ext uri="{FF2B5EF4-FFF2-40B4-BE49-F238E27FC236}">
                <a16:creationId xmlns:a16="http://schemas.microsoft.com/office/drawing/2014/main" id="{FFF0C620-C321-4D09-AF69-66B311D5811E}"/>
              </a:ext>
            </a:extLst>
          </p:cNvPr>
          <p:cNvSpPr txBox="1"/>
          <p:nvPr/>
        </p:nvSpPr>
        <p:spPr>
          <a:xfrm>
            <a:off x="1360715" y="881216"/>
            <a:ext cx="5066410" cy="414344"/>
          </a:xfrm>
          <a:prstGeom prst="rect">
            <a:avLst/>
          </a:prstGeom>
          <a:noFill/>
        </p:spPr>
        <p:txBody>
          <a:bodyPr wrap="square">
            <a:spAutoFit/>
          </a:bodyPr>
          <a:lstStyle/>
          <a:p>
            <a:pPr>
              <a:lnSpc>
                <a:spcPct val="107000"/>
              </a:lnSpc>
              <a:spcAft>
                <a:spcPts val="326"/>
              </a:spcAft>
              <a:tabLst>
                <a:tab pos="1570926" algn="l"/>
              </a:tabLs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Una vez concluido el proceso de autoría, debe revisar que todos datos sean correctos antes de presionar el botón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Guardar y continuar</a:t>
            </a:r>
            <a:r>
              <a:rPr lang="es-CU" sz="1000" dirty="0">
                <a:latin typeface="Calibri" panose="020F0502020204030204" pitchFamily="34" charset="0"/>
                <a:ea typeface="Calibri" panose="020F0502020204030204" pitchFamily="34" charset="0"/>
                <a:cs typeface="Times New Roman" panose="02020603050405020304" pitchFamily="18" charset="0"/>
              </a:rPr>
              <a:t>. </a:t>
            </a:r>
            <a:endParaRPr lang="es-ES" sz="10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3" name="Imagen 12">
            <a:extLst>
              <a:ext uri="{FF2B5EF4-FFF2-40B4-BE49-F238E27FC236}">
                <a16:creationId xmlns:a16="http://schemas.microsoft.com/office/drawing/2014/main" id="{D462C1CE-9814-4173-9F14-C1766369C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489" y="1309891"/>
            <a:ext cx="4475636" cy="1841741"/>
          </a:xfrm>
          <a:prstGeom prst="rect">
            <a:avLst/>
          </a:prstGeom>
          <a:effectLst/>
        </p:spPr>
      </p:pic>
      <p:sp>
        <p:nvSpPr>
          <p:cNvPr id="14" name="Cuadro de texto 36">
            <a:extLst>
              <a:ext uri="{FF2B5EF4-FFF2-40B4-BE49-F238E27FC236}">
                <a16:creationId xmlns:a16="http://schemas.microsoft.com/office/drawing/2014/main" id="{383143E1-ABEC-42C2-ADF7-B4B528358347}"/>
              </a:ext>
            </a:extLst>
          </p:cNvPr>
          <p:cNvSpPr txBox="1"/>
          <p:nvPr/>
        </p:nvSpPr>
        <p:spPr>
          <a:xfrm>
            <a:off x="2009044" y="2589357"/>
            <a:ext cx="1956975" cy="129521"/>
          </a:xfrm>
          <a:prstGeom prst="rect">
            <a:avLst/>
          </a:prstGeom>
          <a:solidFill>
            <a:schemeClr val="lt1"/>
          </a:solidFill>
          <a:ln w="6350">
            <a:noFill/>
          </a:ln>
        </p:spPr>
        <p:txBody>
          <a:bodyPr rot="0" spcFirstLastPara="0" vert="horz" wrap="square" lIns="37275" tIns="18638" rIns="37275" bIns="18638" numCol="1" spcCol="0" rtlCol="0" fromWordArt="0" anchor="t" anchorCtr="0" forceAA="0" compatLnSpc="1">
            <a:prstTxWarp prst="textNoShape">
              <a:avLst/>
            </a:prstTxWarp>
            <a:noAutofit/>
          </a:bodyPr>
          <a:lstStyle/>
          <a:p>
            <a:pPr>
              <a:lnSpc>
                <a:spcPct val="107000"/>
              </a:lnSpc>
              <a:spcAft>
                <a:spcPts val="326"/>
              </a:spcAft>
            </a:pPr>
            <a:r>
              <a:rPr lang="es-ES" sz="285">
                <a:latin typeface="Calibri" panose="020F0502020204030204" pitchFamily="34" charset="0"/>
                <a:ea typeface="Calibri" panose="020F0502020204030204" pitchFamily="34" charset="0"/>
                <a:cs typeface="Times New Roman" panose="02020603050405020304" pitchFamily="18" charset="0"/>
              </a:rPr>
              <a:t>Nombre y apellidos		usuario@dominio.cu</a:t>
            </a:r>
            <a:endParaRPr lang="es-ES" sz="448">
              <a:latin typeface="Calibri" panose="020F0502020204030204" pitchFamily="34" charset="0"/>
              <a:ea typeface="Calibri" panose="020F0502020204030204" pitchFamily="34" charset="0"/>
              <a:cs typeface="Times New Roman" panose="02020603050405020304" pitchFamily="18" charset="0"/>
            </a:endParaRPr>
          </a:p>
        </p:txBody>
      </p:sp>
      <p:cxnSp>
        <p:nvCxnSpPr>
          <p:cNvPr id="16" name="Conector recto 15">
            <a:extLst>
              <a:ext uri="{FF2B5EF4-FFF2-40B4-BE49-F238E27FC236}">
                <a16:creationId xmlns:a16="http://schemas.microsoft.com/office/drawing/2014/main" id="{D501BBC8-3FE5-4F0A-9DC8-A7E38604C9ED}"/>
              </a:ext>
            </a:extLst>
          </p:cNvPr>
          <p:cNvCxnSpPr>
            <a:cxnSpLocks/>
          </p:cNvCxnSpPr>
          <p:nvPr/>
        </p:nvCxnSpPr>
        <p:spPr>
          <a:xfrm>
            <a:off x="1331301" y="3590555"/>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sp>
        <p:nvSpPr>
          <p:cNvPr id="17" name="Diagrama de flujo: conector 16">
            <a:extLst>
              <a:ext uri="{FF2B5EF4-FFF2-40B4-BE49-F238E27FC236}">
                <a16:creationId xmlns:a16="http://schemas.microsoft.com/office/drawing/2014/main" id="{BA4DCC23-B1BE-4C08-841C-3B55C01BC0AB}"/>
              </a:ext>
            </a:extLst>
          </p:cNvPr>
          <p:cNvSpPr/>
          <p:nvPr/>
        </p:nvSpPr>
        <p:spPr>
          <a:xfrm>
            <a:off x="770724" y="4099011"/>
            <a:ext cx="443465" cy="443465"/>
          </a:xfrm>
          <a:prstGeom prst="flowChartConnector">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18" name="Imagen 17">
            <a:extLst>
              <a:ext uri="{FF2B5EF4-FFF2-40B4-BE49-F238E27FC236}">
                <a16:creationId xmlns:a16="http://schemas.microsoft.com/office/drawing/2014/main" id="{76DD7239-47CC-4394-BF6B-AA78E5FADB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113" y="4186898"/>
            <a:ext cx="314832" cy="314832"/>
          </a:xfrm>
          <a:prstGeom prst="rect">
            <a:avLst/>
          </a:prstGeom>
          <a:effectLst>
            <a:outerShdw blurRad="50800" dist="38100" dir="2700000" algn="tl" rotWithShape="0">
              <a:prstClr val="black">
                <a:alpha val="40000"/>
              </a:prstClr>
            </a:outerShdw>
          </a:effectLst>
        </p:spPr>
      </p:pic>
      <p:sp>
        <p:nvSpPr>
          <p:cNvPr id="19" name="CuadroTexto 18">
            <a:extLst>
              <a:ext uri="{FF2B5EF4-FFF2-40B4-BE49-F238E27FC236}">
                <a16:creationId xmlns:a16="http://schemas.microsoft.com/office/drawing/2014/main" id="{3D1A55F8-AC31-440B-9216-5746FCD354DA}"/>
              </a:ext>
            </a:extLst>
          </p:cNvPr>
          <p:cNvSpPr txBox="1"/>
          <p:nvPr/>
        </p:nvSpPr>
        <p:spPr>
          <a:xfrm>
            <a:off x="1299436" y="4812604"/>
            <a:ext cx="5320820" cy="579005"/>
          </a:xfrm>
          <a:prstGeom prst="rect">
            <a:avLst/>
          </a:prstGeom>
          <a:noFill/>
        </p:spPr>
        <p:txBody>
          <a:bodyPr wrap="square">
            <a:spAutoFit/>
          </a:bodyPr>
          <a:lstStyle/>
          <a:p>
            <a:pPr>
              <a:lnSpc>
                <a:spcPct val="107000"/>
              </a:lnSpc>
              <a:spcAft>
                <a:spcPts val="326"/>
              </a:spcAft>
            </a:pP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 este paso puede regresar a cualquiera de los anteriores para verificar o modificar información.</a:t>
            </a:r>
            <a:b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b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Cuando esté completamente seguro</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de que todos los datos y archivos son correctos, presione el botón </a:t>
            </a: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Finalizar envío</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t>
            </a:r>
          </a:p>
        </p:txBody>
      </p:sp>
      <p:pic>
        <p:nvPicPr>
          <p:cNvPr id="20" name="Imagen 19">
            <a:extLst>
              <a:ext uri="{FF2B5EF4-FFF2-40B4-BE49-F238E27FC236}">
                <a16:creationId xmlns:a16="http://schemas.microsoft.com/office/drawing/2014/main" id="{50F1B3C8-0470-4A46-A59E-34384B13E215}"/>
              </a:ext>
            </a:extLst>
          </p:cNvPr>
          <p:cNvPicPr/>
          <p:nvPr/>
        </p:nvPicPr>
        <p:blipFill>
          <a:blip r:embed="rId5"/>
          <a:stretch>
            <a:fillRect/>
          </a:stretch>
        </p:blipFill>
        <p:spPr>
          <a:xfrm>
            <a:off x="1913385" y="5576828"/>
            <a:ext cx="4513740" cy="1336813"/>
          </a:xfrm>
          <a:prstGeom prst="rect">
            <a:avLst/>
          </a:prstGeom>
          <a:effectLst/>
        </p:spPr>
      </p:pic>
      <p:sp>
        <p:nvSpPr>
          <p:cNvPr id="21" name="CuadroTexto 20">
            <a:extLst>
              <a:ext uri="{FF2B5EF4-FFF2-40B4-BE49-F238E27FC236}">
                <a16:creationId xmlns:a16="http://schemas.microsoft.com/office/drawing/2014/main" id="{80C5A518-61A7-4236-85EF-61AB46C59AA9}"/>
              </a:ext>
            </a:extLst>
          </p:cNvPr>
          <p:cNvSpPr txBox="1"/>
          <p:nvPr/>
        </p:nvSpPr>
        <p:spPr>
          <a:xfrm>
            <a:off x="1299434" y="4207094"/>
            <a:ext cx="1486437"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Confirmación</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23" name="Rectángulo 22">
            <a:extLst>
              <a:ext uri="{FF2B5EF4-FFF2-40B4-BE49-F238E27FC236}">
                <a16:creationId xmlns:a16="http://schemas.microsoft.com/office/drawing/2014/main" id="{FA202A04-DE5C-49EB-B8F8-8BE18A2F833C}"/>
              </a:ext>
            </a:extLst>
          </p:cNvPr>
          <p:cNvSpPr/>
          <p:nvPr/>
        </p:nvSpPr>
        <p:spPr>
          <a:xfrm>
            <a:off x="1427339" y="4470573"/>
            <a:ext cx="486046"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32" name="Marco 31">
            <a:extLst>
              <a:ext uri="{FF2B5EF4-FFF2-40B4-BE49-F238E27FC236}">
                <a16:creationId xmlns:a16="http://schemas.microsoft.com/office/drawing/2014/main" id="{152E25C9-1653-4E41-9EE4-DD0E39A181F1}"/>
              </a:ext>
            </a:extLst>
          </p:cNvPr>
          <p:cNvSpPr/>
          <p:nvPr/>
        </p:nvSpPr>
        <p:spPr>
          <a:xfrm>
            <a:off x="1951488" y="1268258"/>
            <a:ext cx="4475635" cy="1926045"/>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3" name="Marco 32">
            <a:extLst>
              <a:ext uri="{FF2B5EF4-FFF2-40B4-BE49-F238E27FC236}">
                <a16:creationId xmlns:a16="http://schemas.microsoft.com/office/drawing/2014/main" id="{BD44DBE3-7F6C-44B6-B4B4-E1EF8EE1D774}"/>
              </a:ext>
            </a:extLst>
          </p:cNvPr>
          <p:cNvSpPr/>
          <p:nvPr/>
        </p:nvSpPr>
        <p:spPr>
          <a:xfrm>
            <a:off x="1885857" y="5537229"/>
            <a:ext cx="4547362" cy="1388744"/>
          </a:xfrm>
          <a:prstGeom prst="frame">
            <a:avLst>
              <a:gd name="adj1" fmla="val 2611"/>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34" name="Imagen 33">
            <a:extLst>
              <a:ext uri="{FF2B5EF4-FFF2-40B4-BE49-F238E27FC236}">
                <a16:creationId xmlns:a16="http://schemas.microsoft.com/office/drawing/2014/main" id="{935B2955-1044-4CD9-BF8C-A2BCB3B17F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4172661">
            <a:off x="4715459" y="2996241"/>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pic>
        <p:nvPicPr>
          <p:cNvPr id="35" name="Imagen 34">
            <a:extLst>
              <a:ext uri="{FF2B5EF4-FFF2-40B4-BE49-F238E27FC236}">
                <a16:creationId xmlns:a16="http://schemas.microsoft.com/office/drawing/2014/main" id="{379050E2-6B62-4480-8AA6-29AE99897E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4172661">
            <a:off x="4788610" y="6629988"/>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44387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Imagen 44">
            <a:extLst>
              <a:ext uri="{FF2B5EF4-FFF2-40B4-BE49-F238E27FC236}">
                <a16:creationId xmlns:a16="http://schemas.microsoft.com/office/drawing/2014/main" id="{875BFEEE-E331-4E27-99AB-38F9C2E808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cxnSp>
        <p:nvCxnSpPr>
          <p:cNvPr id="16" name="Conector recto 15">
            <a:extLst>
              <a:ext uri="{FF2B5EF4-FFF2-40B4-BE49-F238E27FC236}">
                <a16:creationId xmlns:a16="http://schemas.microsoft.com/office/drawing/2014/main" id="{D501BBC8-3FE5-4F0A-9DC8-A7E38604C9ED}"/>
              </a:ext>
            </a:extLst>
          </p:cNvPr>
          <p:cNvCxnSpPr>
            <a:cxnSpLocks/>
          </p:cNvCxnSpPr>
          <p:nvPr/>
        </p:nvCxnSpPr>
        <p:spPr>
          <a:xfrm>
            <a:off x="1306738" y="4120907"/>
            <a:ext cx="4656037" cy="0"/>
          </a:xfrm>
          <a:prstGeom prst="line">
            <a:avLst/>
          </a:prstGeom>
          <a:effectLst>
            <a:outerShdw blurRad="50800" dist="38100" dir="2700000" algn="tl" rotWithShape="0">
              <a:prstClr val="black">
                <a:alpha val="40000"/>
              </a:prstClr>
            </a:outerShdw>
          </a:effectLst>
        </p:spPr>
        <p:style>
          <a:lnRef idx="2">
            <a:schemeClr val="accent3"/>
          </a:lnRef>
          <a:fillRef idx="0">
            <a:schemeClr val="accent3"/>
          </a:fillRef>
          <a:effectRef idx="1">
            <a:schemeClr val="accent3"/>
          </a:effectRef>
          <a:fontRef idx="minor">
            <a:schemeClr val="tx1"/>
          </a:fontRef>
        </p:style>
      </p:cxnSp>
      <p:sp>
        <p:nvSpPr>
          <p:cNvPr id="24" name="Diagrama de flujo: conector 23">
            <a:extLst>
              <a:ext uri="{FF2B5EF4-FFF2-40B4-BE49-F238E27FC236}">
                <a16:creationId xmlns:a16="http://schemas.microsoft.com/office/drawing/2014/main" id="{CF675202-0C51-44D0-8DAD-15A039A8D82D}"/>
              </a:ext>
            </a:extLst>
          </p:cNvPr>
          <p:cNvSpPr/>
          <p:nvPr/>
        </p:nvSpPr>
        <p:spPr>
          <a:xfrm>
            <a:off x="770722" y="741861"/>
            <a:ext cx="443465" cy="443465"/>
          </a:xfrm>
          <a:prstGeom prst="flowChartConnector">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25" name="Imagen 24">
            <a:extLst>
              <a:ext uri="{FF2B5EF4-FFF2-40B4-BE49-F238E27FC236}">
                <a16:creationId xmlns:a16="http://schemas.microsoft.com/office/drawing/2014/main" id="{17B316DC-020D-4E74-87F5-49A6D2A518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228" y="793023"/>
            <a:ext cx="335018" cy="335018"/>
          </a:xfrm>
          <a:prstGeom prst="rect">
            <a:avLst/>
          </a:prstGeom>
        </p:spPr>
      </p:pic>
      <p:sp>
        <p:nvSpPr>
          <p:cNvPr id="26" name="CuadroTexto 25">
            <a:extLst>
              <a:ext uri="{FF2B5EF4-FFF2-40B4-BE49-F238E27FC236}">
                <a16:creationId xmlns:a16="http://schemas.microsoft.com/office/drawing/2014/main" id="{2AAC4801-66D2-4A53-9147-C7D4261435C7}"/>
              </a:ext>
            </a:extLst>
          </p:cNvPr>
          <p:cNvSpPr txBox="1"/>
          <p:nvPr/>
        </p:nvSpPr>
        <p:spPr>
          <a:xfrm>
            <a:off x="1306738" y="1217710"/>
            <a:ext cx="5167213" cy="414344"/>
          </a:xfrm>
          <a:prstGeom prst="rect">
            <a:avLst/>
          </a:prstGeom>
          <a:noFill/>
        </p:spPr>
        <p:txBody>
          <a:bodyPr wrap="square">
            <a:spAutoFit/>
          </a:bodyPr>
          <a:lstStyle/>
          <a:p>
            <a:pPr>
              <a:lnSpc>
                <a:spcPct val="107000"/>
              </a:lnSpc>
              <a:spcAft>
                <a:spcPts val="326"/>
              </a:spcAft>
              <a:tabLst>
                <a:tab pos="475755" algn="l"/>
              </a:tabLst>
            </a:pP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 este paso, se ha completado el envío y podrá tener acceso a las siguientes opciones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Revisar el envío completado</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t>
            </a:r>
            <a:r>
              <a:rPr lang="es-CU" sz="1000" dirty="0">
                <a:latin typeface="Calibri" panose="020F0502020204030204" pitchFamily="34" charset="0"/>
                <a:ea typeface="Calibri" panose="020F0502020204030204" pitchFamily="34" charset="0"/>
                <a:cs typeface="Times New Roman" panose="02020603050405020304" pitchFamily="18" charset="0"/>
              </a:rPr>
              <a:t>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Crear un nuevo envío </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o</a:t>
            </a:r>
            <a:r>
              <a:rPr lang="es-CU" sz="1000" dirty="0">
                <a:latin typeface="Calibri" panose="020F0502020204030204" pitchFamily="34" charset="0"/>
                <a:ea typeface="Calibri" panose="020F0502020204030204" pitchFamily="34" charset="0"/>
                <a:cs typeface="Times New Roman" panose="02020603050405020304" pitchFamily="18" charset="0"/>
              </a:rPr>
              <a:t> </a:t>
            </a:r>
            <a:r>
              <a:rPr lang="es-CU"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Regresar al escritorio</a:t>
            </a:r>
            <a:r>
              <a:rPr lang="es-CU"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a:t>
            </a:r>
            <a:endPar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9" name="CuadroTexto 28">
            <a:extLst>
              <a:ext uri="{FF2B5EF4-FFF2-40B4-BE49-F238E27FC236}">
                <a16:creationId xmlns:a16="http://schemas.microsoft.com/office/drawing/2014/main" id="{66B41085-121E-4B71-85CB-AB1F649D13A9}"/>
              </a:ext>
            </a:extLst>
          </p:cNvPr>
          <p:cNvSpPr txBox="1"/>
          <p:nvPr/>
        </p:nvSpPr>
        <p:spPr>
          <a:xfrm>
            <a:off x="1299434" y="849945"/>
            <a:ext cx="1586044"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Envío completado</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pic>
        <p:nvPicPr>
          <p:cNvPr id="27" name="Imagen 26">
            <a:extLst>
              <a:ext uri="{FF2B5EF4-FFF2-40B4-BE49-F238E27FC236}">
                <a16:creationId xmlns:a16="http://schemas.microsoft.com/office/drawing/2014/main" id="{5A322D7A-EB47-49B3-9D73-744F383B36A3}"/>
              </a:ext>
            </a:extLst>
          </p:cNvPr>
          <p:cNvPicPr/>
          <p:nvPr/>
        </p:nvPicPr>
        <p:blipFill>
          <a:blip r:embed="rId4"/>
          <a:stretch>
            <a:fillRect/>
          </a:stretch>
        </p:blipFill>
        <p:spPr>
          <a:xfrm>
            <a:off x="2026674" y="1757472"/>
            <a:ext cx="4447278" cy="2143966"/>
          </a:xfrm>
          <a:prstGeom prst="rect">
            <a:avLst/>
          </a:prstGeom>
          <a:effectLst>
            <a:outerShdw blurRad="50800" dist="38100" dir="2700000" algn="tl" rotWithShape="0">
              <a:prstClr val="black">
                <a:alpha val="40000"/>
              </a:prstClr>
            </a:outerShdw>
          </a:effectLst>
        </p:spPr>
      </p:pic>
      <p:sp>
        <p:nvSpPr>
          <p:cNvPr id="28" name="Marco 27">
            <a:extLst>
              <a:ext uri="{FF2B5EF4-FFF2-40B4-BE49-F238E27FC236}">
                <a16:creationId xmlns:a16="http://schemas.microsoft.com/office/drawing/2014/main" id="{6C4A097D-87F7-4BAD-AEA5-53DD8085675F}"/>
              </a:ext>
            </a:extLst>
          </p:cNvPr>
          <p:cNvSpPr/>
          <p:nvPr/>
        </p:nvSpPr>
        <p:spPr>
          <a:xfrm>
            <a:off x="2193503" y="3304062"/>
            <a:ext cx="986695" cy="439683"/>
          </a:xfrm>
          <a:prstGeom prst="frame">
            <a:avLst>
              <a:gd name="adj1" fmla="val 3511"/>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ES" sz="734">
              <a:ln>
                <a:solidFill>
                  <a:schemeClr val="bg1"/>
                </a:solidFill>
              </a:ln>
              <a:solidFill>
                <a:schemeClr val="tx1"/>
              </a:solidFill>
            </a:endParaRPr>
          </a:p>
        </p:txBody>
      </p:sp>
      <p:sp>
        <p:nvSpPr>
          <p:cNvPr id="31" name="Rectángulo 30">
            <a:extLst>
              <a:ext uri="{FF2B5EF4-FFF2-40B4-BE49-F238E27FC236}">
                <a16:creationId xmlns:a16="http://schemas.microsoft.com/office/drawing/2014/main" id="{818E7684-424C-4CD3-AE84-3859B2485389}"/>
              </a:ext>
            </a:extLst>
          </p:cNvPr>
          <p:cNvSpPr/>
          <p:nvPr/>
        </p:nvSpPr>
        <p:spPr>
          <a:xfrm>
            <a:off x="1427339" y="1113423"/>
            <a:ext cx="599334"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32" name="Diagrama de flujo: conector 31">
            <a:extLst>
              <a:ext uri="{FF2B5EF4-FFF2-40B4-BE49-F238E27FC236}">
                <a16:creationId xmlns:a16="http://schemas.microsoft.com/office/drawing/2014/main" id="{3DECCBCA-3248-4D8B-B5B9-B69947CF51D0}"/>
              </a:ext>
            </a:extLst>
          </p:cNvPr>
          <p:cNvSpPr/>
          <p:nvPr/>
        </p:nvSpPr>
        <p:spPr>
          <a:xfrm>
            <a:off x="833221" y="4592932"/>
            <a:ext cx="443465" cy="443465"/>
          </a:xfrm>
          <a:prstGeom prst="flowChartConnector">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33" name="Imagen 32">
            <a:extLst>
              <a:ext uri="{FF2B5EF4-FFF2-40B4-BE49-F238E27FC236}">
                <a16:creationId xmlns:a16="http://schemas.microsoft.com/office/drawing/2014/main" id="{FEAD5593-5F24-4EE4-A3F4-11E9A86FDC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5022" y="4652042"/>
            <a:ext cx="338039" cy="338039"/>
          </a:xfrm>
          <a:prstGeom prst="rect">
            <a:avLst/>
          </a:prstGeom>
          <a:effectLst>
            <a:outerShdw blurRad="50800" dist="38100" dir="2700000" algn="tl" rotWithShape="0">
              <a:prstClr val="black">
                <a:alpha val="40000"/>
              </a:prstClr>
            </a:outerShdw>
          </a:effectLst>
        </p:spPr>
      </p:pic>
      <p:sp>
        <p:nvSpPr>
          <p:cNvPr id="34" name="CuadroTexto 33">
            <a:extLst>
              <a:ext uri="{FF2B5EF4-FFF2-40B4-BE49-F238E27FC236}">
                <a16:creationId xmlns:a16="http://schemas.microsoft.com/office/drawing/2014/main" id="{5B3E90B7-6245-4541-A5FC-37ABA6317886}"/>
              </a:ext>
            </a:extLst>
          </p:cNvPr>
          <p:cNvSpPr txBox="1"/>
          <p:nvPr/>
        </p:nvSpPr>
        <p:spPr>
          <a:xfrm>
            <a:off x="1575714" y="5162903"/>
            <a:ext cx="3976072" cy="2118529"/>
          </a:xfrm>
          <a:prstGeom prst="rect">
            <a:avLst/>
          </a:prstGeom>
          <a:noFill/>
        </p:spPr>
        <p:txBody>
          <a:bodyPr wrap="square">
            <a:spAutoFit/>
          </a:bodyPr>
          <a:lstStyle/>
          <a:p>
            <a:pPr algn="just">
              <a:lnSpc>
                <a:spcPct val="107000"/>
              </a:lnSpc>
              <a:spcAft>
                <a:spcPts val="326"/>
              </a:spcAft>
              <a:buSzPts val="1000"/>
              <a:tabLst>
                <a:tab pos="186368" algn="l"/>
              </a:tabLst>
            </a:pPr>
            <a:r>
              <a:rPr lang="es-ES" sz="1142"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Recibirá </a:t>
            </a:r>
            <a:r>
              <a:rPr lang="es-ES" sz="1142"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notificaciones por correo electrónico</a:t>
            </a:r>
            <a:r>
              <a:rPr lang="es-ES" sz="1142"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en cada etapa del proceso editorial (recepción, preevaluación, asignación de evaluadores, dictámenes, correcciones, etc.).</a:t>
            </a:r>
          </a:p>
          <a:p>
            <a:pPr algn="just">
              <a:lnSpc>
                <a:spcPct val="107000"/>
              </a:lnSpc>
              <a:spcAft>
                <a:spcPts val="326"/>
              </a:spcAft>
              <a:buSzPts val="1000"/>
              <a:tabLst>
                <a:tab pos="186368" algn="l"/>
              </a:tabLst>
            </a:pPr>
            <a:endParaRPr lang="es-ES" sz="1142"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326"/>
              </a:spcAft>
              <a:buSzPts val="1000"/>
              <a:tabLst>
                <a:tab pos="186368" algn="l"/>
              </a:tabLst>
            </a:pPr>
            <a:r>
              <a:rPr lang="es-ES" sz="1142"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Puede ingresar nuevamente a la revista, acceder a su </a:t>
            </a:r>
            <a:r>
              <a:rPr lang="es-ES" sz="1142"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Envío</a:t>
            </a:r>
            <a:r>
              <a:rPr lang="es-ES" sz="1142"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y consultar el estado actual.</a:t>
            </a:r>
          </a:p>
          <a:p>
            <a:pPr algn="just">
              <a:lnSpc>
                <a:spcPct val="107000"/>
              </a:lnSpc>
              <a:spcAft>
                <a:spcPts val="326"/>
              </a:spcAft>
              <a:buSzPts val="1000"/>
              <a:tabLst>
                <a:tab pos="186368" algn="l"/>
              </a:tabLst>
            </a:pPr>
            <a:endParaRPr lang="es-ES" sz="1142"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326"/>
              </a:spcAft>
              <a:buSzPts val="1000"/>
              <a:tabLst>
                <a:tab pos="186368" algn="l"/>
              </a:tabLst>
            </a:pPr>
            <a:r>
              <a:rPr lang="es-ES" sz="1142"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También podrá participar en el proceso editorial respondiendo a solicitudes de editores o evaluadores a través de la misma plataforma.</a:t>
            </a:r>
          </a:p>
        </p:txBody>
      </p:sp>
      <p:sp>
        <p:nvSpPr>
          <p:cNvPr id="35" name="CuadroTexto 34">
            <a:extLst>
              <a:ext uri="{FF2B5EF4-FFF2-40B4-BE49-F238E27FC236}">
                <a16:creationId xmlns:a16="http://schemas.microsoft.com/office/drawing/2014/main" id="{DCECADD1-F33F-4D7D-9A60-F73040DCAF2E}"/>
              </a:ext>
            </a:extLst>
          </p:cNvPr>
          <p:cNvSpPr txBox="1"/>
          <p:nvPr/>
        </p:nvSpPr>
        <p:spPr>
          <a:xfrm>
            <a:off x="1361932" y="4701016"/>
            <a:ext cx="1622588"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Después del envío</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36" name="Diagrama de flujo: conector fuera de página 35">
            <a:extLst>
              <a:ext uri="{FF2B5EF4-FFF2-40B4-BE49-F238E27FC236}">
                <a16:creationId xmlns:a16="http://schemas.microsoft.com/office/drawing/2014/main" id="{F51054D2-33E4-40DA-A33F-1A22FC4B7FF3}"/>
              </a:ext>
            </a:extLst>
          </p:cNvPr>
          <p:cNvSpPr/>
          <p:nvPr/>
        </p:nvSpPr>
        <p:spPr>
          <a:xfrm rot="16200000">
            <a:off x="1275784" y="5983130"/>
            <a:ext cx="222664" cy="220854"/>
          </a:xfrm>
          <a:prstGeom prst="flowChartOffpageConnector">
            <a:avLst/>
          </a:prstGeom>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37" name="Imagen 36">
            <a:extLst>
              <a:ext uri="{FF2B5EF4-FFF2-40B4-BE49-F238E27FC236}">
                <a16:creationId xmlns:a16="http://schemas.microsoft.com/office/drawing/2014/main" id="{60A79A9E-8009-46D9-9A0A-DF25C2E06F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1326" y="6003493"/>
            <a:ext cx="174017" cy="174017"/>
          </a:xfrm>
          <a:prstGeom prst="rect">
            <a:avLst/>
          </a:prstGeom>
          <a:effectLst>
            <a:outerShdw blurRad="50800" dist="38100" dir="2700000" algn="tl" rotWithShape="0">
              <a:prstClr val="black">
                <a:alpha val="40000"/>
              </a:prstClr>
            </a:outerShdw>
          </a:effectLst>
        </p:spPr>
      </p:pic>
      <p:sp>
        <p:nvSpPr>
          <p:cNvPr id="38" name="Diagrama de flujo: conector fuera de página 37">
            <a:extLst>
              <a:ext uri="{FF2B5EF4-FFF2-40B4-BE49-F238E27FC236}">
                <a16:creationId xmlns:a16="http://schemas.microsoft.com/office/drawing/2014/main" id="{32930837-1FA8-4AF7-BBD5-B0E2D90B3E04}"/>
              </a:ext>
            </a:extLst>
          </p:cNvPr>
          <p:cNvSpPr/>
          <p:nvPr/>
        </p:nvSpPr>
        <p:spPr>
          <a:xfrm rot="16200000">
            <a:off x="1272467" y="5169811"/>
            <a:ext cx="222663" cy="216469"/>
          </a:xfrm>
          <a:prstGeom prst="flowChartOffpageConnector">
            <a:avLst/>
          </a:prstGeom>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39" name="Imagen 38">
            <a:extLst>
              <a:ext uri="{FF2B5EF4-FFF2-40B4-BE49-F238E27FC236}">
                <a16:creationId xmlns:a16="http://schemas.microsoft.com/office/drawing/2014/main" id="{CDAB04C7-FFB3-44B9-A511-078D62DDCA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85820" y="5183503"/>
            <a:ext cx="173255" cy="173255"/>
          </a:xfrm>
          <a:prstGeom prst="rect">
            <a:avLst/>
          </a:prstGeom>
          <a:effectLst>
            <a:outerShdw blurRad="50800" dist="38100" dir="2700000" algn="tl" rotWithShape="0">
              <a:prstClr val="black">
                <a:alpha val="40000"/>
              </a:prstClr>
            </a:outerShdw>
          </a:effectLst>
        </p:spPr>
      </p:pic>
      <p:sp>
        <p:nvSpPr>
          <p:cNvPr id="40" name="Diagrama de flujo: conector fuera de página 39">
            <a:extLst>
              <a:ext uri="{FF2B5EF4-FFF2-40B4-BE49-F238E27FC236}">
                <a16:creationId xmlns:a16="http://schemas.microsoft.com/office/drawing/2014/main" id="{29AE0A4C-4AEC-4529-8E6D-9A1F846F9D25}"/>
              </a:ext>
            </a:extLst>
          </p:cNvPr>
          <p:cNvSpPr/>
          <p:nvPr/>
        </p:nvSpPr>
        <p:spPr>
          <a:xfrm rot="16200000">
            <a:off x="1272470" y="6605495"/>
            <a:ext cx="222664" cy="216468"/>
          </a:xfrm>
          <a:prstGeom prst="flowChartOffpageConnector">
            <a:avLst/>
          </a:prstGeom>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41" name="Imagen 40">
            <a:extLst>
              <a:ext uri="{FF2B5EF4-FFF2-40B4-BE49-F238E27FC236}">
                <a16:creationId xmlns:a16="http://schemas.microsoft.com/office/drawing/2014/main" id="{9062F5A1-301A-4901-AE36-A0A60A7F2CB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97119" y="6640632"/>
            <a:ext cx="168223" cy="168223"/>
          </a:xfrm>
          <a:prstGeom prst="rect">
            <a:avLst/>
          </a:prstGeom>
        </p:spPr>
      </p:pic>
      <p:sp>
        <p:nvSpPr>
          <p:cNvPr id="42" name="Rectángulo 41">
            <a:extLst>
              <a:ext uri="{FF2B5EF4-FFF2-40B4-BE49-F238E27FC236}">
                <a16:creationId xmlns:a16="http://schemas.microsoft.com/office/drawing/2014/main" id="{7F6DDE17-7E5A-4B9E-8A23-A8D9CF9F6DE3}"/>
              </a:ext>
            </a:extLst>
          </p:cNvPr>
          <p:cNvSpPr/>
          <p:nvPr/>
        </p:nvSpPr>
        <p:spPr>
          <a:xfrm>
            <a:off x="1489838" y="4964494"/>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sp>
        <p:nvSpPr>
          <p:cNvPr id="43" name="Marco 42">
            <a:extLst>
              <a:ext uri="{FF2B5EF4-FFF2-40B4-BE49-F238E27FC236}">
                <a16:creationId xmlns:a16="http://schemas.microsoft.com/office/drawing/2014/main" id="{4DB1DFE8-6041-47EC-819E-2C264C3A93F5}"/>
              </a:ext>
            </a:extLst>
          </p:cNvPr>
          <p:cNvSpPr/>
          <p:nvPr/>
        </p:nvSpPr>
        <p:spPr>
          <a:xfrm>
            <a:off x="1956816" y="1712168"/>
            <a:ext cx="4529327" cy="2189269"/>
          </a:xfrm>
          <a:prstGeom prst="frame">
            <a:avLst>
              <a:gd name="adj1" fmla="val 1533"/>
            </a:avLst>
          </a:prstGeom>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44" name="Imagen 43">
            <a:extLst>
              <a:ext uri="{FF2B5EF4-FFF2-40B4-BE49-F238E27FC236}">
                <a16:creationId xmlns:a16="http://schemas.microsoft.com/office/drawing/2014/main" id="{5338DE02-B346-47B0-AD12-FE84BF20272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7966005">
            <a:off x="3205852" y="3556572"/>
            <a:ext cx="567305" cy="567305"/>
          </a:xfrm>
          <a:prstGeom prst="rect">
            <a:avLst/>
          </a:prstGeom>
          <a:effectLst>
            <a:glow rad="63500">
              <a:schemeClr val="accent6">
                <a:satMod val="175000"/>
                <a:alpha val="40000"/>
              </a:schemeClr>
            </a:glow>
            <a:outerShdw blurRad="50800" dist="38100" dir="2700000" algn="tl" rotWithShape="0">
              <a:prstClr val="black">
                <a:alpha val="40000"/>
              </a:prstClr>
            </a:outerShdw>
          </a:effectLst>
        </p:spPr>
      </p:pic>
      <p:sp>
        <p:nvSpPr>
          <p:cNvPr id="30" name="CuadroTexto 29">
            <a:extLst>
              <a:ext uri="{FF2B5EF4-FFF2-40B4-BE49-F238E27FC236}">
                <a16:creationId xmlns:a16="http://schemas.microsoft.com/office/drawing/2014/main" id="{0690F6C3-11A3-4C13-A0AA-E9EF67D18BDB}"/>
              </a:ext>
            </a:extLst>
          </p:cNvPr>
          <p:cNvSpPr txBox="1"/>
          <p:nvPr/>
        </p:nvSpPr>
        <p:spPr>
          <a:xfrm>
            <a:off x="1275564" y="7545840"/>
            <a:ext cx="5210579" cy="1517723"/>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lnSpc>
                <a:spcPct val="107000"/>
              </a:lnSpc>
              <a:spcAft>
                <a:spcPts val="326"/>
              </a:spcAft>
            </a:pPr>
            <a:r>
              <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Nota:</a:t>
            </a:r>
            <a:r>
              <a:rPr lang="es-ES" sz="1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Tenga presente que llegado a este punto, ya su artículo está en plataforma y debe darle seguimiento a través de su perfil.</a:t>
            </a:r>
          </a:p>
          <a:p>
            <a:pPr algn="just">
              <a:lnSpc>
                <a:spcPct val="107000"/>
              </a:lnSpc>
              <a:spcAft>
                <a:spcPts val="326"/>
              </a:spcAft>
            </a:pPr>
            <a:r>
              <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Para garantizar claridad en el proceso debe entrar con regularidad y no esperar solo por los correos enviados de parte del editor/a encargado/a.</a:t>
            </a:r>
          </a:p>
          <a:p>
            <a:pPr algn="just">
              <a:lnSpc>
                <a:spcPct val="107000"/>
              </a:lnSpc>
              <a:spcAft>
                <a:spcPts val="326"/>
              </a:spcAft>
            </a:pPr>
            <a:endParaRPr lang="es-ES" sz="1000"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326"/>
              </a:spcAft>
            </a:pPr>
            <a:r>
              <a:rPr lang="es-ES" sz="1000" b="1" u="sng"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Estimado autor</a:t>
            </a: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 Recuerde que, pasado 15 días de enviarle una notificación a través de plataforma y no recibir respuesta, el Equipo Editorial entenderá que ha perdido el interés por publicar su manuscrito y procederá a su rechazo.</a:t>
            </a:r>
          </a:p>
        </p:txBody>
      </p:sp>
    </p:spTree>
    <p:extLst>
      <p:ext uri="{BB962C8B-B14F-4D97-AF65-F5344CB8AC3E}">
        <p14:creationId xmlns:p14="http://schemas.microsoft.com/office/powerpoint/2010/main" val="1550735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Imagen 47">
            <a:extLst>
              <a:ext uri="{FF2B5EF4-FFF2-40B4-BE49-F238E27FC236}">
                <a16:creationId xmlns:a16="http://schemas.microsoft.com/office/drawing/2014/main" id="{00A61501-96BE-43B7-8004-CB74F6314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260476" y="1260473"/>
            <a:ext cx="9720266" cy="7199314"/>
          </a:xfrm>
          <a:prstGeom prst="rect">
            <a:avLst/>
          </a:prstGeom>
        </p:spPr>
      </p:pic>
      <p:sp>
        <p:nvSpPr>
          <p:cNvPr id="43" name="Diagrama de flujo: conector 42">
            <a:extLst>
              <a:ext uri="{FF2B5EF4-FFF2-40B4-BE49-F238E27FC236}">
                <a16:creationId xmlns:a16="http://schemas.microsoft.com/office/drawing/2014/main" id="{F917306D-C009-418F-B8AB-EB5EA6F88563}"/>
              </a:ext>
            </a:extLst>
          </p:cNvPr>
          <p:cNvSpPr/>
          <p:nvPr/>
        </p:nvSpPr>
        <p:spPr>
          <a:xfrm>
            <a:off x="885022" y="869469"/>
            <a:ext cx="443465" cy="443465"/>
          </a:xfrm>
          <a:prstGeom prst="flowChartConnector">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44" name="Imagen 43">
            <a:extLst>
              <a:ext uri="{FF2B5EF4-FFF2-40B4-BE49-F238E27FC236}">
                <a16:creationId xmlns:a16="http://schemas.microsoft.com/office/drawing/2014/main" id="{91937668-029B-474B-8E7C-5E7E4EB10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141" y="913326"/>
            <a:ext cx="347722" cy="347722"/>
          </a:xfrm>
          <a:prstGeom prst="rect">
            <a:avLst/>
          </a:prstGeom>
          <a:effectLst>
            <a:outerShdw blurRad="50800" dist="38100" dir="2700000" algn="tl" rotWithShape="0">
              <a:prstClr val="black">
                <a:alpha val="40000"/>
              </a:prstClr>
            </a:outerShdw>
          </a:effectLst>
        </p:spPr>
      </p:pic>
      <p:sp>
        <p:nvSpPr>
          <p:cNvPr id="45" name="CuadroTexto 44">
            <a:extLst>
              <a:ext uri="{FF2B5EF4-FFF2-40B4-BE49-F238E27FC236}">
                <a16:creationId xmlns:a16="http://schemas.microsoft.com/office/drawing/2014/main" id="{574CB5CA-0D11-4535-BFD7-B28A5BEAF4CA}"/>
              </a:ext>
            </a:extLst>
          </p:cNvPr>
          <p:cNvSpPr txBox="1"/>
          <p:nvPr/>
        </p:nvSpPr>
        <p:spPr>
          <a:xfrm>
            <a:off x="1413732" y="1579075"/>
            <a:ext cx="4846860" cy="985270"/>
          </a:xfrm>
          <a:prstGeom prst="rect">
            <a:avLst/>
          </a:prstGeom>
          <a:noFill/>
        </p:spPr>
        <p:txBody>
          <a:bodyPr wrap="square">
            <a:spAutoFit/>
          </a:bodyPr>
          <a:lstStyle/>
          <a:p>
            <a:pPr marL="139776" indent="-139776">
              <a:lnSpc>
                <a:spcPct val="107000"/>
              </a:lnSpc>
              <a:spcAft>
                <a:spcPts val="326"/>
              </a:spcAft>
              <a:buSzPts val="1000"/>
              <a:buFont typeface="Symbol" panose="05050102010706020507" pitchFamily="18" charset="2"/>
              <a:buChar char=""/>
              <a:tabLst>
                <a:tab pos="186368" algn="l"/>
              </a:tabLst>
            </a:pP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Para profundizar en el uso de la plataforma, consulte la guía oficial (en inglés):</a:t>
            </a:r>
            <a:b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br>
            <a:r>
              <a:rPr lang="es-ES" sz="10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https://docs.pkp.sfu.ca/learning-ojs/3.1/es/authoring</a:t>
            </a:r>
            <a:endParaRPr lang="es-ES" sz="10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326"/>
              </a:spcAft>
              <a:buSzPts val="1000"/>
              <a:tabLst>
                <a:tab pos="186368" algn="l"/>
              </a:tabLst>
            </a:pPr>
            <a:endPar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139776" indent="-139776">
              <a:lnSpc>
                <a:spcPct val="107000"/>
              </a:lnSpc>
              <a:spcAft>
                <a:spcPts val="326"/>
              </a:spcAft>
              <a:buSzPts val="1000"/>
              <a:buFont typeface="Symbol" panose="05050102010706020507" pitchFamily="18" charset="2"/>
              <a:buChar char=""/>
              <a:tabLst>
                <a:tab pos="186368" algn="l"/>
              </a:tabLst>
            </a:pPr>
            <a: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t>Sitio web institucional de Universo Sur:</a:t>
            </a:r>
            <a:br>
              <a:rPr lang="es-ES" sz="1000" b="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rPr>
            </a:br>
            <a:r>
              <a:rPr lang="es-ES" sz="10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https://universosur.ucf.edu.cu</a:t>
            </a:r>
            <a:endParaRPr lang="es-ES" sz="10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6" name="CuadroTexto 45">
            <a:extLst>
              <a:ext uri="{FF2B5EF4-FFF2-40B4-BE49-F238E27FC236}">
                <a16:creationId xmlns:a16="http://schemas.microsoft.com/office/drawing/2014/main" id="{6DD54F84-0256-45D1-BDC2-F5E8A392D56F}"/>
              </a:ext>
            </a:extLst>
          </p:cNvPr>
          <p:cNvSpPr txBox="1"/>
          <p:nvPr/>
        </p:nvSpPr>
        <p:spPr>
          <a:xfrm>
            <a:off x="1413732" y="977553"/>
            <a:ext cx="2722586" cy="318229"/>
          </a:xfrm>
          <a:prstGeom prst="rect">
            <a:avLst/>
          </a:prstGeom>
          <a:noFill/>
          <a:effectLst>
            <a:outerShdw blurRad="50800" dist="38100" dir="2700000" algn="tl" rotWithShape="0">
              <a:prstClr val="black">
                <a:alpha val="40000"/>
              </a:prstClr>
            </a:outerShdw>
          </a:effectLst>
        </p:spPr>
        <p:txBody>
          <a:bodyPr wrap="square" rtlCol="0">
            <a:spAutoFit/>
          </a:bodyPr>
          <a:lstStyle/>
          <a:p>
            <a:pPr defTabSz="372735">
              <a:defRPr/>
            </a:pPr>
            <a:r>
              <a:rPr lang="es-CU" sz="1468" b="1" dirty="0">
                <a:ln>
                  <a:solidFill>
                    <a:schemeClr val="bg1"/>
                  </a:solidFill>
                </a:ln>
                <a:solidFill>
                  <a:schemeClr val="bg1"/>
                </a:solidFill>
                <a:effectLst>
                  <a:glow rad="139700">
                    <a:schemeClr val="accent1">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rPr>
              <a:t>Información adicional y contacto</a:t>
            </a:r>
            <a:endParaRPr lang="es-ES" sz="1468" b="1" dirty="0">
              <a:ln>
                <a:solidFill>
                  <a:schemeClr val="bg1"/>
                </a:solidFill>
              </a:ln>
              <a:solidFill>
                <a:schemeClr val="bg1"/>
              </a:solidFill>
              <a:effectLst>
                <a:glow rad="139700">
                  <a:schemeClr val="accent1">
                    <a:satMod val="175000"/>
                    <a:alpha val="40000"/>
                  </a:schemeClr>
                </a:glow>
              </a:effectLst>
              <a:latin typeface="Calibri" panose="020F0502020204030204"/>
            </a:endParaRPr>
          </a:p>
        </p:txBody>
      </p:sp>
      <p:sp>
        <p:nvSpPr>
          <p:cNvPr id="47" name="Rectángulo 46">
            <a:extLst>
              <a:ext uri="{FF2B5EF4-FFF2-40B4-BE49-F238E27FC236}">
                <a16:creationId xmlns:a16="http://schemas.microsoft.com/office/drawing/2014/main" id="{2C90217C-8882-4CCA-B54E-1B004F41A84F}"/>
              </a:ext>
            </a:extLst>
          </p:cNvPr>
          <p:cNvSpPr/>
          <p:nvPr/>
        </p:nvSpPr>
        <p:spPr>
          <a:xfrm>
            <a:off x="1541639" y="1241031"/>
            <a:ext cx="1004982" cy="186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734"/>
          </a:p>
        </p:txBody>
      </p:sp>
      <p:pic>
        <p:nvPicPr>
          <p:cNvPr id="8" name="Imagen 7">
            <a:extLst>
              <a:ext uri="{FF2B5EF4-FFF2-40B4-BE49-F238E27FC236}">
                <a16:creationId xmlns:a16="http://schemas.microsoft.com/office/drawing/2014/main" id="{0AD0F670-5494-4222-8193-D70F06C54E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68415" y="3829127"/>
            <a:ext cx="2662481" cy="4287047"/>
          </a:xfrm>
          <a:prstGeom prst="rect">
            <a:avLst/>
          </a:prstGeom>
        </p:spPr>
      </p:pic>
    </p:spTree>
    <p:extLst>
      <p:ext uri="{BB962C8B-B14F-4D97-AF65-F5344CB8AC3E}">
        <p14:creationId xmlns:p14="http://schemas.microsoft.com/office/powerpoint/2010/main" val="315129638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22362</TotalTime>
  <Words>882</Words>
  <Application>Microsoft Office PowerPoint</Application>
  <PresentationFormat>Personalizado</PresentationFormat>
  <Paragraphs>50</Paragraphs>
  <Slides>18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Calibri</vt:lpstr>
      <vt:lpstr>Calibri Light</vt:lpstr>
      <vt:lpstr>Inter</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Rolday</dc:creator>
  <cp:lastModifiedBy>Rolday</cp:lastModifiedBy>
  <cp:revision>244</cp:revision>
  <dcterms:created xsi:type="dcterms:W3CDTF">2026-05-22T17:34:45Z</dcterms:created>
  <dcterms:modified xsi:type="dcterms:W3CDTF">2026-06-18T14:02:37Z</dcterms:modified>
</cp:coreProperties>
</file>